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Template structure informed by internal hackathon presentation requirements and prior presentation kits.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source: AI Solution Evaluation Scorecard provides functional, AI/model, agentic, Responsible AI, business and UX evaluation categories.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3796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48A"/>
                </a:solidFill>
              </a:rPr>
              <a:t>GLOBAL AI HACKATHON | READY-TO-USE STARTER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6537960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</a:rPr>
              <a:t>Replace all [bracketed] content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9601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[SOLUTION NAME]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21792" y="16642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B9E7E3"/>
                </a:solidFill>
              </a:rPr>
              <a:t>[One memorable sentence: what it does, for whom, and the outcome]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32520" y="914400"/>
            <a:ext cx="2560320" cy="4206240"/>
          </a:xfrm>
          <a:prstGeom prst="roundRect">
            <a:avLst/>
          </a:prstGeom>
          <a:solidFill>
            <a:srgbClr val="112B42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72600" y="12984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A6"/>
                </a:solidFill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052560" y="187452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[Name | Architect]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052560" y="246888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[Name | AI / Data]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52560" y="30632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[Name | Engineering]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052560" y="365760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[Name | UX / Business]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5257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[Hackathon / Challenge Name]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5715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5"/>
                </a:solidFill>
              </a:rPr>
              <a:t>[Demo link]  •  [Code link]  •  [Video link]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01 | The problem worth solving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Make the jury care before explaining technology.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3474720" cy="2743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53312"/>
            <a:ext cx="3255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PERSONA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[Who experiences the problem?]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[Where does the problem occur?]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[What decision or activity is affected?]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28016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A4A"/>
            </a:solidFill>
            <a:prstDash val="solid"/>
          </a:ln>
          <a:effectLst/>
        </p:spPr>
      </p:sp>
      <p:sp>
        <p:nvSpPr>
          <p:cNvPr id="9" name="Shape 7"/>
          <p:cNvSpPr/>
          <p:nvPr/>
        </p:nvSpPr>
        <p:spPr>
          <a:xfrm>
            <a:off x="4343400" y="1280160"/>
            <a:ext cx="3474720" cy="274320"/>
          </a:xfrm>
          <a:prstGeom prst="rect">
            <a:avLst/>
          </a:prstGeom>
          <a:solidFill>
            <a:srgbClr val="C84A4A"/>
          </a:solidFill>
          <a:ln w="12700">
            <a:solidFill>
              <a:srgbClr val="C8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353312"/>
            <a:ext cx="3255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PAIN TODAY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6420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[Current approach]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[Delay / cost / risk / inconsistency]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[Why existing solutions fall short]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28016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  <a:effectLst/>
        </p:spPr>
      </p:sp>
      <p:sp>
        <p:nvSpPr>
          <p:cNvPr id="13" name="Shape 11"/>
          <p:cNvSpPr/>
          <p:nvPr/>
        </p:nvSpPr>
        <p:spPr>
          <a:xfrm>
            <a:off x="8138160" y="1280160"/>
            <a:ext cx="3474720" cy="274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353312"/>
            <a:ext cx="3255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NOW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75320" y="166420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[New data / AI capability]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[Business urgency]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[Market / regulatory / customer trigger]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64240" cy="1417320"/>
          </a:xfrm>
          <a:prstGeom prst="roundRect">
            <a:avLst/>
          </a:prstGeom>
          <a:solidFill>
            <a:srgbClr val="EAF7F6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9776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6A6"/>
                </a:solidFill>
              </a:rPr>
              <a:t>Opening hook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4165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“[A real user currently spends / loses / risks ______ because ______.]”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48A"/>
                </a:solidFill>
              </a:rPr>
              <a:t>Evidence: [source / baseline / interview / observation]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02 | Our solution in one 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Connect persona, AI capability and business outcome.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76072" cy="57607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201168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SENSE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29992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[Input / trigger]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0160" y="2121408"/>
            <a:ext cx="1618488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1828800"/>
            <a:ext cx="576072" cy="576072"/>
          </a:xfrm>
          <a:prstGeom prst="ellipse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3824" y="201168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26060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UNDERSTAND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9992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[Context / retrieval]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2121408"/>
            <a:ext cx="1618488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03520" y="1828800"/>
            <a:ext cx="576072" cy="576072"/>
          </a:xfrm>
          <a:prstGeom prst="ellipse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95544" y="201168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26060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REASON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9992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[Model / agent / rules]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2121408"/>
            <a:ext cx="1618488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35240" y="1828800"/>
            <a:ext cx="576072" cy="57607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27264" y="201168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52360" y="26060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ACT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29992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[Workflow / decision]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75320" y="2121408"/>
            <a:ext cx="1618488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66960" y="1828800"/>
            <a:ext cx="576072" cy="576072"/>
          </a:xfrm>
          <a:prstGeom prst="ellipse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58984" y="201168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84080" y="26060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LEARN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64040" y="29992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[Feedback / evaluation]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05840" y="4251960"/>
            <a:ext cx="10149840" cy="1005840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45902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[Solution Name] helps [persona] to [do what] using [AI capability], resulting in [measurable outcome].</a:t>
            </a:r>
            <a:endParaRPr lang="en-US" sz="18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03 | Technical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Show only blocks that exist in the prototype or the stated production path.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38912" y="1261872"/>
            <a:ext cx="20299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/>
        </p:spPr>
      </p:sp>
      <p:sp>
        <p:nvSpPr>
          <p:cNvPr id="5" name="Shape 3"/>
          <p:cNvSpPr/>
          <p:nvPr/>
        </p:nvSpPr>
        <p:spPr>
          <a:xfrm>
            <a:off x="438912" y="1261872"/>
            <a:ext cx="2029968" cy="2743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35024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EXPERIENCE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" y="164592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[Web / mobile / copilot]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[Persona views]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[Dashboard]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70632" y="1261872"/>
            <a:ext cx="20299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6FD8"/>
            </a:solidFill>
            <a:prstDash val="solid"/>
          </a:ln>
          <a:effectLst/>
        </p:spPr>
      </p:sp>
      <p:sp>
        <p:nvSpPr>
          <p:cNvPr id="9" name="Shape 7"/>
          <p:cNvSpPr/>
          <p:nvPr/>
        </p:nvSpPr>
        <p:spPr>
          <a:xfrm>
            <a:off x="2770632" y="1261872"/>
            <a:ext cx="2029968" cy="27432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335024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 &amp; WORKFLOW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07792" y="164592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[API gateway]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[Backend services]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[Workflow / events]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02352" y="1261872"/>
            <a:ext cx="20299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54C0"/>
            </a:solidFill>
            <a:prstDash val="solid"/>
          </a:ln>
          <a:effectLst/>
        </p:spPr>
      </p:sp>
      <p:sp>
        <p:nvSpPr>
          <p:cNvPr id="13" name="Shape 11"/>
          <p:cNvSpPr/>
          <p:nvPr/>
        </p:nvSpPr>
        <p:spPr>
          <a:xfrm>
            <a:off x="5102352" y="1261872"/>
            <a:ext cx="2029968" cy="274320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335024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INTELLIGENCE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39512" y="164592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[Agent orchestrator]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[RAG / ML / LLM]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[Rules / guardrails]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34072" y="1261872"/>
            <a:ext cx="20299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A66"/>
            </a:solidFill>
            <a:prstDash val="solid"/>
          </a:ln>
          <a:effectLst/>
        </p:spPr>
      </p:sp>
      <p:sp>
        <p:nvSpPr>
          <p:cNvPr id="17" name="Shape 15"/>
          <p:cNvSpPr/>
          <p:nvPr/>
        </p:nvSpPr>
        <p:spPr>
          <a:xfrm>
            <a:off x="7434072" y="1261872"/>
            <a:ext cx="2029968" cy="27432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1335024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&amp; KNOWLEDGE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71232" y="164592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[Documents / DB]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[Vector / graph]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[Evidence / audit]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65792" y="1261872"/>
            <a:ext cx="20299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  <a:effectLst/>
        </p:spPr>
      </p:sp>
      <p:sp>
        <p:nvSpPr>
          <p:cNvPr id="21" name="Shape 19"/>
          <p:cNvSpPr/>
          <p:nvPr/>
        </p:nvSpPr>
        <p:spPr>
          <a:xfrm>
            <a:off x="9765792" y="1261872"/>
            <a:ext cx="2029968" cy="274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1335024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ENTERPRISE SYSTEMS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02952" y="164592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[APIs / tools]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[Notifications]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[Write-back]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3063240"/>
            <a:ext cx="292608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800600" y="3063240"/>
            <a:ext cx="292608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32320" y="3063240"/>
            <a:ext cx="292608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64040" y="3063240"/>
            <a:ext cx="292608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38912" y="5257800"/>
            <a:ext cx="11356848" cy="566928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449824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CROSS-CUTTING  |  Security • Responsible AI • Observability • Evaluation • CI/CD • Cost controls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04 | AI design and trust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Defend why the selected AI pattern is appropriate.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54C0"/>
            </a:solidFill>
            <a:prstDash val="solid"/>
          </a:ln>
          <a:effectLst/>
        </p:spPr>
      </p:sp>
      <p:sp>
        <p:nvSpPr>
          <p:cNvPr id="5" name="Shape 3"/>
          <p:cNvSpPr/>
          <p:nvPr/>
        </p:nvSpPr>
        <p:spPr>
          <a:xfrm>
            <a:off x="548640" y="1234440"/>
            <a:ext cx="3474720" cy="274320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07592"/>
            <a:ext cx="3255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AI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184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[Task requiring language, prediction, vision, reasoning or adaptation]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[Why deterministic logic alone is insufficient]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23444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6FD8"/>
            </a:solidFill>
            <a:prstDash val="solid"/>
          </a:ln>
          <a:effectLst/>
        </p:spPr>
      </p:sp>
      <p:sp>
        <p:nvSpPr>
          <p:cNvPr id="9" name="Shape 7"/>
          <p:cNvSpPr/>
          <p:nvPr/>
        </p:nvSpPr>
        <p:spPr>
          <a:xfrm>
            <a:off x="4343400" y="1234440"/>
            <a:ext cx="3474720" cy="27432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307592"/>
            <a:ext cx="3255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SELECTED PATTERN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184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[RAG / ML / agentic / multimodal / hybrid]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[Model and orchestration choice]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23444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/>
        </p:spPr>
      </p:sp>
      <p:sp>
        <p:nvSpPr>
          <p:cNvPr id="13" name="Shape 11"/>
          <p:cNvSpPr/>
          <p:nvPr/>
        </p:nvSpPr>
        <p:spPr>
          <a:xfrm>
            <a:off x="8138160" y="1234440"/>
            <a:ext cx="3474720" cy="2743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307592"/>
            <a:ext cx="3255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HUMAN CONTROL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75320" y="16184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[Approval points]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[Escalation / fallback]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[Actions AI cannot perform]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199339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A66"/>
            </a:solidFill>
            <a:prstDash val="solid"/>
          </a:ln>
          <a:effectLst/>
        </p:spPr>
      </p:sp>
      <p:sp>
        <p:nvSpPr>
          <p:cNvPr id="17" name="Shape 15"/>
          <p:cNvSpPr/>
          <p:nvPr/>
        </p:nvSpPr>
        <p:spPr>
          <a:xfrm>
            <a:off x="548640" y="3154680"/>
            <a:ext cx="1993392" cy="27432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227832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Grounding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538728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[Enterprise context / citations]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3154680"/>
            <a:ext cx="199339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6FD8"/>
            </a:solidFill>
            <a:prstDash val="solid"/>
          </a:ln>
          <a:effectLst/>
        </p:spPr>
      </p:sp>
      <p:sp>
        <p:nvSpPr>
          <p:cNvPr id="21" name="Shape 19"/>
          <p:cNvSpPr/>
          <p:nvPr/>
        </p:nvSpPr>
        <p:spPr>
          <a:xfrm>
            <a:off x="2834640" y="3154680"/>
            <a:ext cx="1993392" cy="27432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44368" y="3227832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Quality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71800" y="3538728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[Test set / metrics / acceptance]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3154680"/>
            <a:ext cx="199339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  <a:effectLst/>
        </p:spPr>
      </p:sp>
      <p:sp>
        <p:nvSpPr>
          <p:cNvPr id="25" name="Shape 23"/>
          <p:cNvSpPr/>
          <p:nvPr/>
        </p:nvSpPr>
        <p:spPr>
          <a:xfrm>
            <a:off x="5120640" y="3154680"/>
            <a:ext cx="1993392" cy="274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3227832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Safety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3538728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[Guardrails / content / policy]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06640" y="3154680"/>
            <a:ext cx="199339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/>
        </p:spPr>
      </p:sp>
      <p:sp>
        <p:nvSpPr>
          <p:cNvPr id="29" name="Shape 27"/>
          <p:cNvSpPr/>
          <p:nvPr/>
        </p:nvSpPr>
        <p:spPr>
          <a:xfrm>
            <a:off x="7406640" y="3154680"/>
            <a:ext cx="1993392" cy="2743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16368" y="3227832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Privacy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43800" y="3538728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[RBAC / masking / retention]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92640" y="3154680"/>
            <a:ext cx="199339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54C0"/>
            </a:solidFill>
            <a:prstDash val="solid"/>
          </a:ln>
          <a:effectLst/>
        </p:spPr>
      </p:sp>
      <p:sp>
        <p:nvSpPr>
          <p:cNvPr id="33" name="Shape 31"/>
          <p:cNvSpPr/>
          <p:nvPr/>
        </p:nvSpPr>
        <p:spPr>
          <a:xfrm>
            <a:off x="9692640" y="3154680"/>
            <a:ext cx="1993392" cy="274320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02368" y="3227832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Audit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829800" y="3538728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[Prompt, evidence, decision, action]</a:t>
            </a:r>
            <a:endParaRPr lang="en-US" sz="10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05 | Live demo: one complete story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One strong scenario is better than a feature tour.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5488" y="1417320"/>
            <a:ext cx="160020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  <a:effectLst/>
        </p:spPr>
      </p:sp>
      <p:sp>
        <p:nvSpPr>
          <p:cNvPr id="5" name="Text 3"/>
          <p:cNvSpPr/>
          <p:nvPr/>
        </p:nvSpPr>
        <p:spPr>
          <a:xfrm>
            <a:off x="100584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A6A6"/>
                </a:solidFill>
              </a:rPr>
              <a:t>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2395728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TRIGGER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99923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[Realistic event / request]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84832" y="3017520"/>
            <a:ext cx="292608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95728" y="1417320"/>
            <a:ext cx="160020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6FD8"/>
            </a:solidFill>
            <a:prstDash val="solid"/>
          </a:ln>
          <a:effectLst/>
        </p:spPr>
      </p:sp>
      <p:sp>
        <p:nvSpPr>
          <p:cNvPr id="10" name="Text 8"/>
          <p:cNvSpPr/>
          <p:nvPr/>
        </p:nvSpPr>
        <p:spPr>
          <a:xfrm>
            <a:off x="292608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D6FD8"/>
                </a:solidFill>
              </a:rPr>
              <a:t>2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505456" y="2395728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INPUT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99923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[Data / document / image / voice]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05072" y="3017520"/>
            <a:ext cx="292608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15968" y="1417320"/>
            <a:ext cx="160020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554C0"/>
            </a:solidFill>
            <a:prstDash val="solid"/>
          </a:ln>
          <a:effectLst/>
        </p:spPr>
      </p:sp>
      <p:sp>
        <p:nvSpPr>
          <p:cNvPr id="15" name="Text 13"/>
          <p:cNvSpPr/>
          <p:nvPr/>
        </p:nvSpPr>
        <p:spPr>
          <a:xfrm>
            <a:off x="484632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554C0"/>
                </a:solidFill>
              </a:rPr>
              <a:t>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4425696" y="2395728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AI REASONING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99923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[Evidence and key steps]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25312" y="3017520"/>
            <a:ext cx="292608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36208" y="1417320"/>
            <a:ext cx="160020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  <a:effectLst/>
        </p:spPr>
      </p:sp>
      <p:sp>
        <p:nvSpPr>
          <p:cNvPr id="20" name="Text 18"/>
          <p:cNvSpPr/>
          <p:nvPr/>
        </p:nvSpPr>
        <p:spPr>
          <a:xfrm>
            <a:off x="67665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28C28"/>
                </a:solidFill>
              </a:rPr>
              <a:t>4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6345936" y="2395728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DECISION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99923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[Recommendation / output]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45552" y="3017520"/>
            <a:ext cx="292608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56448" y="1417320"/>
            <a:ext cx="160020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9A66"/>
            </a:solidFill>
            <a:prstDash val="solid"/>
          </a:ln>
          <a:effectLst/>
        </p:spPr>
      </p:sp>
      <p:sp>
        <p:nvSpPr>
          <p:cNvPr id="25" name="Text 23"/>
          <p:cNvSpPr/>
          <p:nvPr/>
        </p:nvSpPr>
        <p:spPr>
          <a:xfrm>
            <a:off x="868680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B9A66"/>
                </a:solidFill>
              </a:rPr>
              <a:t>5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8266176" y="2395728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ACTION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21040" y="299923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[Workflow / ticket / artefact]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765792" y="3017520"/>
            <a:ext cx="292608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076688" y="1417320"/>
            <a:ext cx="160020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F33"/>
            </a:solidFill>
            <a:prstDash val="solid"/>
          </a:ln>
          <a:effectLst/>
        </p:spPr>
      </p:sp>
      <p:sp>
        <p:nvSpPr>
          <p:cNvPr id="30" name="Text 28"/>
          <p:cNvSpPr/>
          <p:nvPr/>
        </p:nvSpPr>
        <p:spPr>
          <a:xfrm>
            <a:off x="1060704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F33"/>
                </a:solidFill>
              </a:rPr>
              <a:t>6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186416" y="2395728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OUTCOME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241280" y="299923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[Time, quality, risk or cost]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" y="5102352"/>
            <a:ext cx="10789920" cy="502920"/>
          </a:xfrm>
          <a:prstGeom prst="roundRect">
            <a:avLst/>
          </a:prstGeom>
          <a:solidFill>
            <a:srgbClr val="FFF1D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276088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</a:rPr>
              <a:t>Demo safety net: preloaded data • recorded video • static screenshots • offline narration • known reset procedure</a:t>
            </a:r>
            <a:endParaRPr lang="en-US" sz="10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06 | Evaluation and evidence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Replace claims with measured results.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10972800" cy="3520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How measured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Proof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Functional correctness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[Metric]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[Result]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[Evidence]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AI / model quality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[Metric]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[Result]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[Evidence]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Retrieval / grounding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[Metric]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[Result]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[Evidence]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Latency / throughput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[Metric]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[Result]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[Evidence]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Safety / robustness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[Metric]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[Result]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[Evidence]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User acceptance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[Metric]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[Result]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247"/>
                          </a:solidFill>
                        </a:rPr>
                        <a:t>[Evidence]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5440680"/>
            <a:ext cx="10972800" cy="411480"/>
          </a:xfrm>
          <a:prstGeom prst="roundRect">
            <a:avLst/>
          </a:prstGeom>
          <a:solidFill>
            <a:srgbClr val="EAF7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577840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Pitch line: “We evaluated [N] scenarios across [dimensions], achieving [key result] with [known limitation].”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07 | Business impact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Separate observed prototype results from directional business estimates.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291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A66"/>
            </a:solidFill>
            <a:prstDash val="solid"/>
          </a:ln>
          <a:effectLst/>
        </p:spPr>
      </p:sp>
      <p:sp>
        <p:nvSpPr>
          <p:cNvPr id="5" name="Shape 3"/>
          <p:cNvSpPr/>
          <p:nvPr/>
        </p:nvSpPr>
        <p:spPr>
          <a:xfrm>
            <a:off x="640080" y="1234440"/>
            <a:ext cx="3291840" cy="27432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3075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HARD VALUE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61848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[Hours saved × users × cost]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[Defects / incidents avoided]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[Infrastructure / license savings]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[Revenue opportunity]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291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/>
        </p:spPr>
      </p:sp>
      <p:sp>
        <p:nvSpPr>
          <p:cNvPr id="9" name="Shape 7"/>
          <p:cNvSpPr/>
          <p:nvPr/>
        </p:nvSpPr>
        <p:spPr>
          <a:xfrm>
            <a:off x="4434840" y="1234440"/>
            <a:ext cx="3291840" cy="2743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3075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SOFT VALUE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161848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[Consistency]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[Employee / customer experience]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[Decision confidence]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[Knowledge retention]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234440"/>
            <a:ext cx="3291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6FD8"/>
            </a:solidFill>
            <a:prstDash val="solid"/>
          </a:ln>
          <a:effectLst/>
        </p:spPr>
      </p:sp>
      <p:sp>
        <p:nvSpPr>
          <p:cNvPr id="13" name="Shape 11"/>
          <p:cNvSpPr/>
          <p:nvPr/>
        </p:nvSpPr>
        <p:spPr>
          <a:xfrm>
            <a:off x="8229600" y="1234440"/>
            <a:ext cx="3291840" cy="27432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3075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ADOPTION VALUE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66760" y="161848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[Personas]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[Workflow fit]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[Change required]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[Scale path]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Impact assumptions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60520"/>
          <a:ext cx="6675120" cy="15087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Input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Source / assumption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Current effort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Future effort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Volume / frequency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Cost / risk factor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900" dirty="0"/>
                    </a:p>
                  </a:txBody>
                  <a:tcPr marL="45720" marR="45720">
                    <a:lnL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818120" y="4160520"/>
            <a:ext cx="3703320" cy="1508760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58200" y="4389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[XX%]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8229600" y="50566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E7E3"/>
                </a:solidFill>
              </a:rPr>
              <a:t>[Most memorable value statement]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08 | Innovation and differentiation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Explain the delta, not only the feature list.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207008"/>
          <a:ext cx="11155680" cy="4389119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Traditional approach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Our approach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Why it matters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User experience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AI intelligence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Enterprise context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Governance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Actionability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Scalability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806440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554C0"/>
                </a:solidFill>
              </a:rPr>
              <a:t>Avoid: “We use an LLM.”  Prefer: “[Unique combination] enables [user outcome] while [control / evidence].”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09 | Production readiness and scalability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Show a pragmatic path from prototype to enterprise service.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6FD8"/>
            </a:solidFill>
            <a:prstDash val="solid"/>
          </a:ln>
          <a:effectLst/>
        </p:spPr>
      </p:sp>
      <p:sp>
        <p:nvSpPr>
          <p:cNvPr id="5" name="Shape 3"/>
          <p:cNvSpPr/>
          <p:nvPr/>
        </p:nvSpPr>
        <p:spPr>
          <a:xfrm>
            <a:off x="594360" y="1234440"/>
            <a:ext cx="3337560" cy="27432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07592"/>
            <a:ext cx="3118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1848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Identity • authorization • secrets • network • privacy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  <a:effectLst/>
        </p:spPr>
      </p:sp>
      <p:sp>
        <p:nvSpPr>
          <p:cNvPr id="9" name="Shape 7"/>
          <p:cNvSpPr/>
          <p:nvPr/>
        </p:nvSpPr>
        <p:spPr>
          <a:xfrm>
            <a:off x="4389120" y="1234440"/>
            <a:ext cx="3337560" cy="274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307592"/>
            <a:ext cx="3118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RELIABILITY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26280" y="161848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Retry • fallback • circuit break • queue • backup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83880" y="123444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/>
        </p:spPr>
      </p:sp>
      <p:sp>
        <p:nvSpPr>
          <p:cNvPr id="13" name="Shape 11"/>
          <p:cNvSpPr/>
          <p:nvPr/>
        </p:nvSpPr>
        <p:spPr>
          <a:xfrm>
            <a:off x="8183880" y="1234440"/>
            <a:ext cx="3337560" cy="2743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307592"/>
            <a:ext cx="3118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OBSERVABILITY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161848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Logs • metrics • traces • prompt / model quality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29184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A66"/>
            </a:solidFill>
            <a:prstDash val="solid"/>
          </a:ln>
          <a:effectLst/>
        </p:spPr>
      </p:sp>
      <p:sp>
        <p:nvSpPr>
          <p:cNvPr id="17" name="Shape 15"/>
          <p:cNvSpPr/>
          <p:nvPr/>
        </p:nvSpPr>
        <p:spPr>
          <a:xfrm>
            <a:off x="594360" y="3291840"/>
            <a:ext cx="3337560" cy="27432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364992"/>
            <a:ext cx="3118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SCALE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67588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Stateless services • async jobs • caching • autoscale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29184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54C0"/>
            </a:solidFill>
            <a:prstDash val="solid"/>
          </a:ln>
          <a:effectLst/>
        </p:spPr>
      </p:sp>
      <p:sp>
        <p:nvSpPr>
          <p:cNvPr id="21" name="Shape 19"/>
          <p:cNvSpPr/>
          <p:nvPr/>
        </p:nvSpPr>
        <p:spPr>
          <a:xfrm>
            <a:off x="4389120" y="3291840"/>
            <a:ext cx="3337560" cy="274320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3364992"/>
            <a:ext cx="3118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GOVERNANCE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367588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Model registry • prompt versioning • approval • audit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83880" y="329184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1F33"/>
            </a:solidFill>
            <a:prstDash val="solid"/>
          </a:ln>
          <a:effectLst/>
        </p:spPr>
      </p:sp>
      <p:sp>
        <p:nvSpPr>
          <p:cNvPr id="25" name="Shape 23"/>
          <p:cNvSpPr/>
          <p:nvPr/>
        </p:nvSpPr>
        <p:spPr>
          <a:xfrm>
            <a:off x="8183880" y="3291840"/>
            <a:ext cx="3337560" cy="27432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364992"/>
            <a:ext cx="3118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21040" y="367588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Token budget • small-model routing • retrieval controls • capacity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" y="5532120"/>
            <a:ext cx="10652760" cy="384048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B8C7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650992"/>
            <a:ext cx="10195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Prototype → Pilot → Production: [what changes at each stage?]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10 | Roadmap and adoption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Keep future scope credible and prioritized.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2461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  <a:effectLst/>
        </p:spPr>
      </p:sp>
      <p:sp>
        <p:nvSpPr>
          <p:cNvPr id="5" name="Shape 3"/>
          <p:cNvSpPr/>
          <p:nvPr/>
        </p:nvSpPr>
        <p:spPr>
          <a:xfrm>
            <a:off x="685800" y="1417320"/>
            <a:ext cx="3246120" cy="2743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90472"/>
            <a:ext cx="3026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NOW | HACKATHON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801368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[Working MVP]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[One persona]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[One scenario]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[Measured evidence]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2971800"/>
            <a:ext cx="411480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80560" y="1417320"/>
            <a:ext cx="32461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6FD8"/>
            </a:solidFill>
            <a:prstDash val="solid"/>
          </a:ln>
          <a:effectLst/>
        </p:spPr>
      </p:sp>
      <p:sp>
        <p:nvSpPr>
          <p:cNvPr id="10" name="Shape 8"/>
          <p:cNvSpPr/>
          <p:nvPr/>
        </p:nvSpPr>
        <p:spPr>
          <a:xfrm>
            <a:off x="4480560" y="1417320"/>
            <a:ext cx="3246120" cy="27432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490472"/>
            <a:ext cx="3026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| PILOT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1801368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[Real data]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[2–3 personas]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[Integration hardening]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[User validation]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26680" y="2971800"/>
            <a:ext cx="411480" cy="1"/>
          </a:xfrm>
          <a:prstGeom prst="line">
            <a:avLst/>
          </a:prstGeom>
          <a:noFill/>
          <a:ln w="19050">
            <a:solidFill>
              <a:srgbClr val="B8C7D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75320" y="1417320"/>
            <a:ext cx="32461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54C0"/>
            </a:solidFill>
            <a:prstDash val="solid"/>
          </a:ln>
          <a:effectLst/>
        </p:spPr>
      </p:sp>
      <p:sp>
        <p:nvSpPr>
          <p:cNvPr id="15" name="Shape 13"/>
          <p:cNvSpPr/>
          <p:nvPr/>
        </p:nvSpPr>
        <p:spPr>
          <a:xfrm>
            <a:off x="8275320" y="1417320"/>
            <a:ext cx="3246120" cy="274320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490472"/>
            <a:ext cx="3026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SCALE | ENTERPRISE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1801368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[Multi-tenant / multi-domain]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[Operations]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[Governance]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3247"/>
                </a:solidFill>
              </a:rPr>
              <a:t>[Adoption and support]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5074920"/>
            <a:ext cx="10652760" cy="566928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276088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Adoption dependencies: [data access] • [process owner] • [integration] • [change management] • [operating model]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[SOLUTION NAME]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801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B9E7E3"/>
                </a:solidFill>
              </a:rPr>
              <a:t>[Repeat the one-line value proposition]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51560" y="2926080"/>
            <a:ext cx="2926080" cy="1325880"/>
          </a:xfrm>
          <a:prstGeom prst="roundRect">
            <a:avLst/>
          </a:prstGeom>
          <a:solidFill>
            <a:srgbClr val="112B42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32186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6A6"/>
                </a:solidFill>
              </a:rPr>
              <a:t>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[Pain that matters]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2926080"/>
            <a:ext cx="2926080" cy="1325880"/>
          </a:xfrm>
          <a:prstGeom prst="roundRect">
            <a:avLst/>
          </a:prstGeom>
          <a:solidFill>
            <a:srgbClr val="112B42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32186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6A6"/>
                </a:solidFill>
              </a:rPr>
              <a:t>PROOF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83480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[Working demo + metric]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58200" y="2926080"/>
            <a:ext cx="2926080" cy="1325880"/>
          </a:xfrm>
          <a:prstGeom prst="roundRect">
            <a:avLst/>
          </a:prstGeom>
          <a:solidFill>
            <a:srgbClr val="112B42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32186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6A6"/>
                </a:solidFill>
              </a:rPr>
              <a:t>POTENTIAL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0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[Scale + business value]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5257800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Thank you  |  [Demo / Code / Contact]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2890c3c-0c57-431c-b3b3-bcb876aaf9b9}" enabled="1" method="Standard" siteId="{404b1967-6507-45ab-8a6d-7374a3f478b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AI Hackathon Presentation Starter Deck</dc:title>
  <dc:subject>Ready-to-use presentation template for a five-day global AI hackathon</dc:subject>
  <dc:creator>SWATI GANGURDE</dc:creator>
  <cp:lastModifiedBy>SWATI GANGURDE</cp:lastModifiedBy>
  <cp:revision>2</cp:revision>
  <dcterms:created xsi:type="dcterms:W3CDTF">2026-08-24T06:36:40Z</dcterms:created>
  <dcterms:modified xsi:type="dcterms:W3CDTF">2026-08-24T06:56:19Z</dcterms:modified>
</cp:coreProperties>
</file>