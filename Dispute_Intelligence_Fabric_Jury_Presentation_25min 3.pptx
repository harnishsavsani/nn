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3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Frame the idea as a shift from downstream dispute processing to prevention, intelligence and recovery. Emphasize that AI assists; humans own liability and consequential actions.
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about 90 seconds. Explain the four structural problems. Avoid blaming customers or merchants. The issue is fragmented context, late intervention and rigid workflows.
[Sources]
- Source: Dispute Intelligence Fabric Solution Blueprint 2.0.
- Source: TCS dispute process assets summarized in the internal solution documents.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central narrative. Each pillar becomes a design principle and a measurable business outcome.
[Sources]
- Source: Solution Blueprint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concise architecture-to-business bridge. Show that the differentiator is the combination, not only the agents.
[Sources]
- Source: Solution Blueprint 2.0.
- Source: Executive Value Proposition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journey in two halves. First, prevent unnecessary disputes without suppressing genuine rights. Second, make genuine disputes evidence-ready and controlled.
[Sources]
- Source: Future-State Process and Swimlane Specification 2.0.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jury differentiation slide. Pause on targeted re-evaluation and human-control boundaries.
[Sources]
- Source: Solution Blueprint 2.0.
- Source: AI and Agent Architecture 2.0.
- Source: Network Independence Strategy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two minutes. Give the audience the map, not every box. The next slides explain the layers.
[Sources]
- Source: Solution Blueprint 2.0.
- Source: AI and Agent Architecture 2.0.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separation of experience, durable workflow and deterministic decisions. This prevents AI from becoming the system of authority.
[Sources]
- Source: Solution Blueprint 2.0.
- Source: AI Control and Human Decision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specialization matters: bounded context, smaller prompts, clearer evaluation and safer fallback.
[Sources]
- Source: AI and Agent Architecture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event-driven decoupling and the distinction between operational database, evidence object store, graph and retrieval indexes.
[Sources]
- Source: Solution Blueprint 2.0.
- Source: API and Integration Change Specification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how scalability is achieved, not by one large cluster but by separating interactive, asynchronous, storage and integration workloads.
[Sources]
- Source: Executive Value Proposition 2.0.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promising unvalidated percentages. Present these as measurable levers and propose a baseline-led pilot.
[Sources]
- Source: Executive Value Proposition 2.0.
- Source: Write-Off Reduction and Genuine Dispute Prevention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agnostic does not mean generic outcomes. The reusable core is combined with domain-specific policy packs, schemas, connectors and human authority.
[Sources]
- Source: Solution Blueprint 2.0.
- Source: Network Independence Strategy 2.0.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story back to people and economics. Stress that merchant adoption is value-led, not a technology mandate.
[Sources]
- Source: Executive Value Proposition 2.0.
- Source: Merchant and POS Adoption Business Case 2.0.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feasibility concern. Start with guided intake and evidence intelligence; add POS/gateway change only after the value case is proven.
[Sources]
- Source: Merchant and POS Adoption Business Case 2.0.
- Source: Solution Blueprint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close in 45 seconds. Repeat the four verbs: prevent, resolve, recover, govern. Then invite questions.
[Sources]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45566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A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DISPUTE INTELLIGENCE FABRIC 2.0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235440" y="645566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A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Jury Presentation | 25 minutes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839f289d9d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>
              <a:alpha val="77000"/>
            </a:srgbClr>
          </a:solidFill>
          <a:ln w="12700">
            <a:solidFill>
              <a:srgbClr val="07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58368" y="105156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DISPUTE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FABRIC 2.0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13232" y="3456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B44D"/>
                </a:solidFill>
              </a:rPr>
              <a:t>Prevent • Resolve • Recover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4069080"/>
            <a:ext cx="5303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8FA"/>
                </a:solidFill>
              </a:rPr>
              <a:t>Evidence-backed AI, human-owned decisions, lower losses and better experiences for every participant.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9808" y="5285232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3B8A6">
              <a:alpha val="90000"/>
            </a:srgbClr>
          </a:solidFill>
          <a:ln w="12700">
            <a:solidFill>
              <a:srgbClr val="13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330952"/>
            <a:ext cx="14081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</a:rPr>
              <a:t>25-minute jury story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528523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0B44D">
              <a:alpha val="90000"/>
            </a:srgbClr>
          </a:solidFill>
          <a:ln w="12700">
            <a:solidFill>
              <a:srgbClr val="F0B44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523744" y="5330952"/>
            <a:ext cx="1179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</a:rPr>
              <a:t>BFSI-ready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31920" y="5285232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A58BF2">
              <a:alpha val="90000"/>
            </a:srgbClr>
          </a:solidFill>
          <a:ln w="12700">
            <a:solidFill>
              <a:srgbClr val="A58BF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005072" y="5330952"/>
            <a:ext cx="17282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F8FA"/>
                </a:solidFill>
              </a:rPr>
              <a:t>Domain-agnostic core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understanding of the business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Disputes are not forms to process. They are long-running, evidence-intensive decisions under deadlines.</a:t>
            </a:r>
            <a:endParaRPr lang="en-US" sz="1150" dirty="0"/>
          </a:p>
        </p:txBody>
      </p:sp>
      <p:pic>
        <p:nvPicPr>
          <p:cNvPr id="4" name="Image 0" descr="/mnt/data/c5d473ff51.png"/>
          <p:cNvPicPr>
            <a:picLocks noChangeAspect="1"/>
          </p:cNvPicPr>
          <p:nvPr/>
        </p:nvPicPr>
        <p:blipFill>
          <a:blip r:embed="rId3"/>
          <a:srcRect l="17610" r="17610"/>
          <a:stretch/>
        </p:blipFill>
        <p:spPr>
          <a:xfrm>
            <a:off x="502920" y="1188720"/>
            <a:ext cx="470916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88720"/>
            <a:ext cx="4709160" cy="4846320"/>
          </a:xfrm>
          <a:prstGeom prst="roundRect">
            <a:avLst/>
          </a:prstGeom>
          <a:solidFill>
            <a:srgbClr val="071827">
              <a:alpha val="28000"/>
            </a:srgbClr>
          </a:solidFill>
          <a:ln w="12700">
            <a:solidFill>
              <a:srgbClr val="13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40680" y="1234440"/>
            <a:ext cx="2788920" cy="1298448"/>
          </a:xfrm>
          <a:prstGeom prst="roundRect">
            <a:avLst>
              <a:gd name="adj" fmla="val 563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F7A6B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40680" y="1234440"/>
            <a:ext cx="73152" cy="1298448"/>
          </a:xfrm>
          <a:prstGeom prst="rect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41848" y="138074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Fragmented evidence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41848" y="1764792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Customer, merchant, transaction, delivery, authentication and network records arrive at different times.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94192" y="1234440"/>
            <a:ext cx="2788920" cy="1298448"/>
          </a:xfrm>
          <a:prstGeom prst="roundRect">
            <a:avLst>
              <a:gd name="adj" fmla="val 563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0B44D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394192" y="1234440"/>
            <a:ext cx="73152" cy="1298448"/>
          </a:xfrm>
          <a:prstGeom prst="rect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0" y="1380744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Reactive operations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95360" y="1764792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Teams reconstruct the story manually after a dispute is already costly.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40680" y="2724912"/>
            <a:ext cx="2788920" cy="1298448"/>
          </a:xfrm>
          <a:prstGeom prst="roundRect">
            <a:avLst>
              <a:gd name="adj" fmla="val 563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A58BF2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40680" y="2724912"/>
            <a:ext cx="73152" cy="1298448"/>
          </a:xfrm>
          <a:prstGeom prst="rect">
            <a:avLst/>
          </a:prstGeom>
          <a:solidFill>
            <a:srgbClr val="A58BF2"/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641848" y="287121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Leakage and write-offs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641848" y="3255264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Weak evidence, missed deadlines and poor prioritization turn recoverable cases into losses.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94192" y="2724912"/>
            <a:ext cx="2788920" cy="1298448"/>
          </a:xfrm>
          <a:prstGeom prst="roundRect">
            <a:avLst>
              <a:gd name="adj" fmla="val 563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13B8A6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94192" y="2724912"/>
            <a:ext cx="73152" cy="1298448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595360" y="287121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Poor experience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95360" y="3255264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Customers repeat information, merchants assemble evidence manually, issuers face long cycle times.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40680" y="4224528"/>
            <a:ext cx="5742432" cy="1481328"/>
          </a:xfrm>
          <a:prstGeom prst="roundRect">
            <a:avLst>
              <a:gd name="adj" fmla="val 4938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82C95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440680" y="4224528"/>
            <a:ext cx="73152" cy="1481328"/>
          </a:xfrm>
          <a:prstGeom prst="rect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41848" y="43708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The structural issue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41848" y="4754880"/>
            <a:ext cx="537667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The current model optimizes the dispute lifecycle after it starts. The opportunity is to prevent avoidable disputes, collaborate earlier and make every genuine case evidence-ready.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ambition: move from “process a dispute” to “prevent, understand and recover”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508760" cy="1097280"/>
          </a:xfrm>
          <a:prstGeom prst="hexagon">
            <a:avLst/>
          </a:prstGeom>
          <a:solidFill>
            <a:srgbClr val="58D8E5">
              <a:alpha val="95000"/>
            </a:srgbClr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6733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827"/>
                </a:solidFill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2679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8D8E5"/>
                </a:solidFill>
              </a:rPr>
              <a:t>PREVENT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3072384"/>
            <a:ext cx="1920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4F8FA"/>
                </a:solidFill>
              </a:rPr>
              <a:t>Clarify the transaction and resolve avoidable issues before case creation.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58568" y="1755648"/>
            <a:ext cx="420624" cy="384048"/>
          </a:xfrm>
          <a:prstGeom prst="chevron">
            <a:avLst/>
          </a:prstGeom>
          <a:solidFill>
            <a:srgbClr val="275164">
              <a:alpha val="90000"/>
            </a:srgbClr>
          </a:solidFill>
          <a:ln w="12700">
            <a:solidFill>
              <a:srgbClr val="2751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07792" y="1417320"/>
            <a:ext cx="1508760" cy="1097280"/>
          </a:xfrm>
          <a:prstGeom prst="hexagon">
            <a:avLst/>
          </a:prstGeom>
          <a:solidFill>
            <a:srgbClr val="82C95A">
              <a:alpha val="95000"/>
            </a:srgbClr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10712" y="16733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827"/>
                </a:solidFill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70632" y="2679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2C95A"/>
                </a:solidFill>
              </a:rPr>
              <a:t>COLLABORATE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06624" y="3072384"/>
            <a:ext cx="1920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4F8FA"/>
                </a:solidFill>
              </a:rPr>
              <a:t>Exchange evidence with merchants before escalation where permitted.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755648"/>
            <a:ext cx="420624" cy="384048"/>
          </a:xfrm>
          <a:prstGeom prst="chevron">
            <a:avLst/>
          </a:prstGeom>
          <a:solidFill>
            <a:srgbClr val="275164">
              <a:alpha val="90000"/>
            </a:srgbClr>
          </a:solidFill>
          <a:ln w="12700">
            <a:solidFill>
              <a:srgbClr val="2751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21224" y="1417320"/>
            <a:ext cx="1508760" cy="1097280"/>
          </a:xfrm>
          <a:prstGeom prst="hexagon">
            <a:avLst/>
          </a:prstGeom>
          <a:solidFill>
            <a:srgbClr val="A58BF2">
              <a:alpha val="95000"/>
            </a:srgbClr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24144" y="16733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827"/>
                </a:solidFill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084064" y="2679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58BF2"/>
                </a:solidFill>
              </a:rPr>
              <a:t>UNDERSTAND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0056" y="3072384"/>
            <a:ext cx="1920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4F8FA"/>
                </a:solidFill>
              </a:rPr>
              <a:t>Reconstruct events, expose conflicts and retain uncertainty.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85432" y="1755648"/>
            <a:ext cx="420624" cy="384048"/>
          </a:xfrm>
          <a:prstGeom prst="chevron">
            <a:avLst/>
          </a:prstGeom>
          <a:solidFill>
            <a:srgbClr val="275164">
              <a:alpha val="90000"/>
            </a:srgbClr>
          </a:solidFill>
          <a:ln w="12700">
            <a:solidFill>
              <a:srgbClr val="2751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34656" y="1417320"/>
            <a:ext cx="1508760" cy="1097280"/>
          </a:xfrm>
          <a:prstGeom prst="hexagon">
            <a:avLst/>
          </a:prstGeom>
          <a:solidFill>
            <a:srgbClr val="F0B44D">
              <a:alpha val="95000"/>
            </a:srgbClr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37576" y="16733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827"/>
                </a:solidFill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397496" y="2679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4D"/>
                </a:solidFill>
              </a:rPr>
              <a:t>RECOVER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33488" y="3072384"/>
            <a:ext cx="1920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4F8FA"/>
                </a:solidFill>
              </a:rPr>
              <a:t>Prioritize recoverable work and strengthen evidence packages.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98864" y="1755648"/>
            <a:ext cx="420624" cy="384048"/>
          </a:xfrm>
          <a:prstGeom prst="chevron">
            <a:avLst/>
          </a:prstGeom>
          <a:solidFill>
            <a:srgbClr val="275164">
              <a:alpha val="90000"/>
            </a:srgbClr>
          </a:solidFill>
          <a:ln w="12700">
            <a:solidFill>
              <a:srgbClr val="2751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48088" y="1417320"/>
            <a:ext cx="1508760" cy="1097280"/>
          </a:xfrm>
          <a:prstGeom prst="hexagon">
            <a:avLst/>
          </a:prstGeom>
          <a:solidFill>
            <a:srgbClr val="13B8A6">
              <a:alpha val="95000"/>
            </a:srgbClr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351008" y="16733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71827"/>
                </a:solidFill>
              </a:rPr>
              <a:t>5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10928" y="2679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8A6"/>
                </a:solidFill>
              </a:rPr>
              <a:t>GOVERN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46920" y="3072384"/>
            <a:ext cx="1920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4F8FA"/>
                </a:solidFill>
              </a:rPr>
              <a:t>Keep policy, approvals, external actions and final liability under human control.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4892040"/>
            <a:ext cx="10652760" cy="786384"/>
          </a:xfrm>
          <a:prstGeom prst="roundRect">
            <a:avLst/>
          </a:prstGeom>
          <a:solidFill>
            <a:srgbClr val="0B2434"/>
          </a:solidFill>
          <a:ln w="1778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7280" y="5138928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B44D"/>
                </a:solidFill>
              </a:rPr>
              <a:t>North star: Evidence → Intelligence → Human Decision → Controlled Execution</a:t>
            </a:r>
            <a:endParaRPr lang="en-US" sz="1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in one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Five capabilities work as one prevention-to-recovery fabric.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084832" cy="4251960"/>
          </a:xfrm>
          <a:prstGeom prst="roundRect">
            <a:avLst>
              <a:gd name="adj" fmla="val 3509"/>
            </a:avLst>
          </a:prstGeom>
          <a:solidFill>
            <a:srgbClr val="0B2434"/>
          </a:solidFill>
          <a:ln w="17780">
            <a:solidFill>
              <a:srgbClr val="58D8E5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1288" y="1645920"/>
            <a:ext cx="777240" cy="777240"/>
          </a:xfrm>
          <a:prstGeom prst="ellipse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80744" y="18562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700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Guided intake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3328416"/>
            <a:ext cx="1682496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Transaction enrichment, merchant recognition, refund and delivery visibility.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325880"/>
            <a:ext cx="2084832" cy="4251960"/>
          </a:xfrm>
          <a:prstGeom prst="roundRect">
            <a:avLst>
              <a:gd name="adj" fmla="val 3509"/>
            </a:avLst>
          </a:prstGeom>
          <a:solidFill>
            <a:srgbClr val="0B2434"/>
          </a:solidFill>
          <a:ln w="17780">
            <a:solidFill>
              <a:srgbClr val="A58BF2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777240" cy="777240"/>
          </a:xfrm>
          <a:prstGeom prst="ellipse">
            <a:avLst/>
          </a:prstGeom>
          <a:solidFill>
            <a:srgbClr val="A58BF2"/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94176" y="18562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99232" y="26700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Evidence intelligence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328416"/>
            <a:ext cx="1682496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Immutable evidence, provenance, timeline, contradictions, gaps and hypotheses.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9784" y="1325880"/>
            <a:ext cx="2084832" cy="4251960"/>
          </a:xfrm>
          <a:prstGeom prst="roundRect">
            <a:avLst>
              <a:gd name="adj" fmla="val 3509"/>
            </a:avLst>
          </a:prstGeom>
          <a:solidFill>
            <a:srgbClr val="0B2434"/>
          </a:solidFill>
          <a:ln w="17780">
            <a:solidFill>
              <a:srgbClr val="82C95A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88152" y="1645920"/>
            <a:ext cx="777240" cy="777240"/>
          </a:xfrm>
          <a:prstGeom prst="ellipse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07608" y="18562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12664" y="26700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Merchant collaboration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0952" y="3328416"/>
            <a:ext cx="1682496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Portal/API evidence exchange and pre-chargeback resolution.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43216" y="1325880"/>
            <a:ext cx="2084832" cy="4251960"/>
          </a:xfrm>
          <a:prstGeom prst="roundRect">
            <a:avLst>
              <a:gd name="adj" fmla="val 3509"/>
            </a:avLst>
          </a:prstGeom>
          <a:solidFill>
            <a:srgbClr val="0B2434"/>
          </a:solidFill>
          <a:ln w="17780">
            <a:solidFill>
              <a:srgbClr val="F0B44D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01584" y="1645920"/>
            <a:ext cx="777240" cy="777240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1040" y="18562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6096" y="26700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Recovery optimization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44384" y="3328416"/>
            <a:ext cx="1682496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Recovery probability, next-best evidence/action and write-off recommendations.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56648" y="1325880"/>
            <a:ext cx="2084832" cy="4251960"/>
          </a:xfrm>
          <a:prstGeom prst="roundRect">
            <a:avLst>
              <a:gd name="adj" fmla="val 3509"/>
            </a:avLst>
          </a:prstGeom>
          <a:solidFill>
            <a:srgbClr val="0B2434"/>
          </a:solidFill>
          <a:ln w="17780">
            <a:solidFill>
              <a:srgbClr val="13B8A6"/>
            </a:solidFill>
            <a:prstDash val="solid"/>
          </a:ln>
          <a:effectLst>
            <a:outerShdw blurRad="127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415016" y="1645920"/>
            <a:ext cx="777240" cy="777240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34472" y="18562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39528" y="26700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Human control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57816" y="3328416"/>
            <a:ext cx="1682496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Policy, maker-checker, idempotent actions, audit and point-in-time replay.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Future-state journey: intervene earlier, decide better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Genuine cases continue; avoidable issues are resolved before formal dispute creation.</a:t>
            </a:r>
            <a:endParaRPr lang="en-US" sz="1150" dirty="0"/>
          </a:p>
        </p:txBody>
      </p:sp>
      <p:pic>
        <p:nvPicPr>
          <p:cNvPr id="4" name="Image 0" descr="/mnt/data/e1fb472d7e.png"/>
          <p:cNvPicPr>
            <a:picLocks noChangeAspect="1"/>
          </p:cNvPicPr>
          <p:nvPr/>
        </p:nvPicPr>
        <p:blipFill>
          <a:blip r:embed="rId3"/>
          <a:srcRect t="23193" b="23193"/>
          <a:stretch/>
        </p:blipFill>
        <p:spPr>
          <a:xfrm>
            <a:off x="411480" y="1143000"/>
            <a:ext cx="1138428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143000"/>
            <a:ext cx="11384280" cy="4069080"/>
          </a:xfrm>
          <a:prstGeom prst="rect">
            <a:avLst/>
          </a:prstGeom>
          <a:solidFill>
            <a:srgbClr val="071827">
              <a:alpha val="22000"/>
            </a:srgbClr>
          </a:solidFill>
          <a:ln w="12700">
            <a:solidFill>
              <a:srgbClr val="13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0352" y="1874520"/>
            <a:ext cx="438912" cy="438912"/>
          </a:xfrm>
          <a:prstGeom prst="ellipse">
            <a:avLst/>
          </a:prstGeom>
          <a:solidFill>
            <a:srgbClr val="82C95A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9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9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Clarify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69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673352" y="1874520"/>
            <a:ext cx="438912" cy="438912"/>
          </a:xfrm>
          <a:prstGeom prst="ellipse">
            <a:avLst/>
          </a:prstGeom>
          <a:solidFill>
            <a:srgbClr val="82C95A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792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72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Guide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112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816352" y="1874520"/>
            <a:ext cx="438912" cy="438912"/>
          </a:xfrm>
          <a:prstGeom prst="ellipse">
            <a:avLst/>
          </a:prstGeom>
          <a:solidFill>
            <a:srgbClr val="82C95A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935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15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Screen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55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959352" y="1874520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078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758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Create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98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02352" y="1874520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221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01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Gather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41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45352" y="1874520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364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44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Reconstruct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684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388352" y="1874520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507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187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Compare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827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531352" y="1874520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650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330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Recommend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970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674352" y="1874520"/>
            <a:ext cx="438912" cy="438912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793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473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Approve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0113264" y="2093976"/>
            <a:ext cx="704088" cy="1"/>
          </a:xfrm>
          <a:prstGeom prst="line">
            <a:avLst/>
          </a:prstGeom>
          <a:noFill/>
          <a:ln w="19050">
            <a:solidFill>
              <a:srgbClr val="58D8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0817352" y="1874520"/>
            <a:ext cx="438912" cy="438912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4F8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0936224" y="1993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7"/>
                </a:solidFill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0616184" y="2468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8FA"/>
                </a:solidFill>
              </a:rPr>
              <a:t>Execute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77240" y="3749040"/>
            <a:ext cx="2651760" cy="749808"/>
          </a:xfrm>
          <a:prstGeom prst="roundRect">
            <a:avLst/>
          </a:prstGeom>
          <a:solidFill>
            <a:srgbClr val="123A32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96012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2C95A"/>
                </a:solidFill>
              </a:rPr>
              <a:t>Avoidable issues resolved here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8641080" y="3749040"/>
            <a:ext cx="2377440" cy="749808"/>
          </a:xfrm>
          <a:prstGeom prst="roundRect">
            <a:avLst/>
          </a:prstGeom>
          <a:solidFill>
            <a:srgbClr val="3A3018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869680" y="3977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4D"/>
                </a:solidFill>
              </a:rPr>
              <a:t>Humans own liability</a:t>
            </a:r>
            <a:endParaRPr lang="en-US" sz="14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differentiated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Not another case-management front end, and not autonomous adjudication.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58D8E5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380744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Prevention before processing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764792"/>
            <a:ext cx="48646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Transaction clarification and guided resolution are first-class capabilities.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82C95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73152" cy="1325880"/>
          </a:xfrm>
          <a:prstGeom prst="rect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19088" y="1380744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Evidence graph, not document pile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764792"/>
            <a:ext cx="48646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Assertions, provenance, dependencies and bitemporal timelines make reasoning traceable.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862072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0B44D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862072"/>
            <a:ext cx="73152" cy="1325880"/>
          </a:xfrm>
          <a:prstGeom prst="rect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" y="3008376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Targeted re-evaluation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3392424"/>
            <a:ext cx="48646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Late evidence invalidates only affected outputs, recommendations and approvals.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862072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A58BF2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2862072"/>
            <a:ext cx="73152" cy="1325880"/>
          </a:xfrm>
          <a:prstGeom prst="rect">
            <a:avLst/>
          </a:prstGeom>
          <a:solidFill>
            <a:srgbClr val="A58BF2"/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3008376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Institution-owned intelligence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9088" y="3392424"/>
            <a:ext cx="48646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Networks are used for execution and interoperability, not outsourced investigation.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489704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13B8A6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4489704"/>
            <a:ext cx="73152" cy="132588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5528" y="4636008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Human-centered AI controls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528" y="5020056"/>
            <a:ext cx="48646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Agents classify, compare, rank and draft; rules and people own consequential outcomes.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489704"/>
            <a:ext cx="5230368" cy="1325880"/>
          </a:xfrm>
          <a:prstGeom prst="roundRect">
            <a:avLst>
              <a:gd name="adj" fmla="val 5517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F7A6B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4489704"/>
            <a:ext cx="73152" cy="1325880"/>
          </a:xfrm>
          <a:prstGeom prst="rect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19088" y="4636008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Domain-agnostic evidence core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19088" y="5020056"/>
            <a:ext cx="486460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Common intelligence patterns extend beyond cards to other payment and claims domains.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solution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A composable platform with bounded AI, deterministic controls and scheme-agnostic connectors.</a:t>
            </a:r>
            <a:endParaRPr lang="en-US" sz="1150" dirty="0"/>
          </a:p>
        </p:txBody>
      </p:sp>
      <p:pic>
        <p:nvPicPr>
          <p:cNvPr id="4" name="Image 0" descr="/mnt/data/acd33bbb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52" y="1078992"/>
            <a:ext cx="7708392" cy="5138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440680"/>
            <a:ext cx="11356848" cy="475488"/>
          </a:xfrm>
          <a:prstGeom prst="roundRect">
            <a:avLst/>
          </a:prstGeom>
          <a:solidFill>
            <a:srgbClr val="071827">
              <a:alpha val="92000"/>
            </a:srgbClr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557784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4D"/>
                </a:solidFill>
              </a:rPr>
              <a:t>Read top to bottom: stakeholder experiences → intake and case services → AI intelligence → data and integration → secure operations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Layers 1–3: experience, business services and policy control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58D8E5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3152" cy="4480560"/>
          </a:xfrm>
          <a:prstGeom prst="rect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380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1. Omnichannel experience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1764792"/>
            <a:ext cx="3035808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Customer self-service and guided intake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Merchant portal for collaboration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Investigator, specialist and approver workspaces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Operations, audit and governance dashboards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70832" y="1234440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13B8A6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70832" y="1234440"/>
            <a:ext cx="73152" cy="448056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380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2. Case &amp; workflow services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764792"/>
            <a:ext cx="3035808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Case lifecycle and tasks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Evidence and communication services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Approvals and controlled actions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Deadlines, retries and long waits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API-first experience composition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01584" y="1234440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0B44D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01584" y="1234440"/>
            <a:ext cx="73152" cy="4480560"/>
          </a:xfrm>
          <a:prstGeom prst="rect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02752" y="1380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3. Deterministic decision services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02752" y="1764792"/>
            <a:ext cx="3035808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Eligibility and duplicate rules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Scheme, market and jurisdiction policy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Authority and maker-checker controls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Idempotent action gateway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Human-liability record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4: bounded AI and agent orchestration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Agents are specialized workers around a governed case state, not autonomous judges.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514600" cy="4297680"/>
          </a:xfrm>
          <a:prstGeom prst="roundRect">
            <a:avLst/>
          </a:prstGeom>
          <a:solidFill>
            <a:srgbClr val="0B2434"/>
          </a:solidFill>
          <a:ln w="1905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8D8E5"/>
                </a:solidFill>
              </a:rPr>
              <a:t>A01–A07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8FA"/>
                </a:solidFill>
              </a:rPr>
              <a:t>Intake &amp; evidence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2971800"/>
            <a:ext cx="20116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Structure, classify, extract, validate provenance, resolve entities, detect duplicates and assess quality.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325880"/>
            <a:ext cx="2514600" cy="4297680"/>
          </a:xfrm>
          <a:prstGeom prst="roundRect">
            <a:avLst/>
          </a:prstGeom>
          <a:solidFill>
            <a:srgbClr val="0B2434"/>
          </a:solidFill>
          <a:ln w="1905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22192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58BF2"/>
                </a:solidFill>
              </a:rPr>
              <a:t>A08–A12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93592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8FA"/>
                </a:solidFill>
              </a:rPr>
              <a:t>Reasoning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66744" y="2971800"/>
            <a:ext cx="20116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Reconstruct events, detect contradictions, identify gaps, maintain hypotheses and assess material change.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325880"/>
            <a:ext cx="2514600" cy="4297680"/>
          </a:xfrm>
          <a:prstGeom prst="roundRect">
            <a:avLst/>
          </a:prstGeom>
          <a:solidFill>
            <a:srgbClr val="0B2434"/>
          </a:solidFill>
          <a:ln w="1905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38544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B8A6"/>
                </a:solidFill>
              </a:rPr>
              <a:t>A13–A17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9944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8FA"/>
                </a:solidFill>
              </a:rPr>
              <a:t>Work assistance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3096" y="2971800"/>
            <a:ext cx="20116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Recommend evidence/actions, prepare reviewer packs, draft correspondence and monitor AI assurance.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43416" y="1325880"/>
            <a:ext cx="2514600" cy="4297680"/>
          </a:xfrm>
          <a:prstGeom prst="roundRect">
            <a:avLst/>
          </a:prstGeom>
          <a:solidFill>
            <a:srgbClr val="0B2434"/>
          </a:solidFill>
          <a:ln w="1905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54896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4D"/>
                </a:solidFill>
              </a:rPr>
              <a:t>A18–A23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26296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8FA"/>
                </a:solidFill>
              </a:rPr>
              <a:t>Prevention &amp; recovery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99448" y="2971800"/>
            <a:ext cx="20116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8C5"/>
                </a:solidFill>
              </a:rPr>
              <a:t>Flag clarification needs, prevent avoidable disputes, score recoverability, collaborate with merchants, optimize write-offs and guide customers.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5074920"/>
            <a:ext cx="10287000" cy="658368"/>
          </a:xfrm>
          <a:prstGeom prst="roundRect">
            <a:avLst/>
          </a:prstGeom>
          <a:solidFill>
            <a:srgbClr val="3B2F14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4440" y="528523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B44D"/>
                </a:solidFill>
              </a:rPr>
              <a:t>Hard boundary: no agent rejects a genuine case, declares fraud, decides liability or executes a consequential external action.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Layers 5–7: data, integration and secure operations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353312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82C95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73152" cy="4160520"/>
          </a:xfrm>
          <a:prstGeom prst="rect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1499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Evidence &amp; knowledge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1883664"/>
            <a:ext cx="309067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PostgreSQL case state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Object evidence store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Knowledge graph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Search + vector retrieval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Immutable audit store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07992" y="1353312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0B44D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07992" y="1353312"/>
            <a:ext cx="73152" cy="4160520"/>
          </a:xfrm>
          <a:prstGeom prst="rect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1499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Event &amp; integration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1883664"/>
            <a:ext cx="309067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Kafka/Event Hub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Schema registry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Dead-letter + replay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Merchant and POS adapters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Scheme/action adapters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30184" y="1353312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58D8E5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30184" y="1353312"/>
            <a:ext cx="73152" cy="4160520"/>
          </a:xfrm>
          <a:prstGeom prst="rect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31352" y="1499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Platform &amp; operations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31352" y="1883664"/>
            <a:ext cx="309067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Kubernetes scaling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Secrets and keys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Observability and SRE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CI/CD and policy-as-code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FinOps and model monitoring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51376" y="3291840"/>
            <a:ext cx="347472" cy="1"/>
          </a:xfrm>
          <a:prstGeom prst="line">
            <a:avLst/>
          </a:prstGeom>
          <a:noFill/>
          <a:ln w="25400">
            <a:solidFill>
              <a:srgbClr val="F4F8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73568" y="3291840"/>
            <a:ext cx="347472" cy="1"/>
          </a:xfrm>
          <a:prstGeom prst="line">
            <a:avLst/>
          </a:prstGeom>
          <a:noFill/>
          <a:ln w="25400">
            <a:solidFill>
              <a:srgbClr val="F4F8F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NFR focus: scalability, resilience and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Scale the hot path independently while keeping expensive reasoning asynchronous.</a:t>
            </a:r>
            <a:endParaRPr lang="en-US" sz="1150" dirty="0"/>
          </a:p>
        </p:txBody>
      </p:sp>
      <p:pic>
        <p:nvPicPr>
          <p:cNvPr id="4" name="Image 0" descr="/mnt/data/de44734fe5.png"/>
          <p:cNvPicPr>
            <a:picLocks noChangeAspect="1"/>
          </p:cNvPicPr>
          <p:nvPr/>
        </p:nvPicPr>
        <p:blipFill>
          <a:blip r:embed="rId3"/>
          <a:srcRect l="20192" r="20192"/>
          <a:stretch/>
        </p:blipFill>
        <p:spPr>
          <a:xfrm>
            <a:off x="502920" y="1188720"/>
            <a:ext cx="42519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88720"/>
            <a:ext cx="4251960" cy="4754880"/>
          </a:xfrm>
          <a:prstGeom prst="rect">
            <a:avLst/>
          </a:prstGeom>
          <a:solidFill>
            <a:srgbClr val="071827">
              <a:alpha val="28000"/>
            </a:srgbClr>
          </a:solidFill>
          <a:ln w="12700">
            <a:solidFill>
              <a:srgbClr val="13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47488" y="1261872"/>
            <a:ext cx="2880360" cy="1207008"/>
          </a:xfrm>
          <a:prstGeom prst="roundRect">
            <a:avLst>
              <a:gd name="adj" fmla="val 606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58D8E5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47488" y="1261872"/>
            <a:ext cx="73152" cy="1207008"/>
          </a:xfrm>
          <a:prstGeom prst="rect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48656" y="14081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Elastic services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48656" y="1792224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Stateless APIs and independently scalable workers.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02168" y="1261872"/>
            <a:ext cx="2880360" cy="1207008"/>
          </a:xfrm>
          <a:prstGeom prst="roundRect">
            <a:avLst>
              <a:gd name="adj" fmla="val 606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13B8A6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02168" y="1261872"/>
            <a:ext cx="73152" cy="1207008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03336" y="140817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Partitioned events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03336" y="1792224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Case-keyed streams preserve order while scaling throughput.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47488" y="2770632"/>
            <a:ext cx="2880360" cy="1207008"/>
          </a:xfrm>
          <a:prstGeom prst="roundRect">
            <a:avLst>
              <a:gd name="adj" fmla="val 606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0B44D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47488" y="2770632"/>
            <a:ext cx="73152" cy="1207008"/>
          </a:xfrm>
          <a:prstGeom prst="rect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48656" y="29169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Async heavy work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248656" y="3300984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OCR, extraction and agent reasoning are off the interactive path.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02168" y="2770632"/>
            <a:ext cx="2880360" cy="1207008"/>
          </a:xfrm>
          <a:prstGeom prst="roundRect">
            <a:avLst>
              <a:gd name="adj" fmla="val 606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82C95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202168" y="2770632"/>
            <a:ext cx="73152" cy="1207008"/>
          </a:xfrm>
          <a:prstGeom prst="rect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403336" y="291693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Durable recovery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03336" y="3300984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Retries, idempotency, status inquiry and reconciliation.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47488" y="4279392"/>
            <a:ext cx="2880360" cy="1207008"/>
          </a:xfrm>
          <a:prstGeom prst="roundRect">
            <a:avLst>
              <a:gd name="adj" fmla="val 606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A58BF2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47488" y="4279392"/>
            <a:ext cx="73152" cy="1207008"/>
          </a:xfrm>
          <a:prstGeom prst="rect">
            <a:avLst/>
          </a:prstGeom>
          <a:solidFill>
            <a:srgbClr val="A58BF2"/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48656" y="442569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Selective refresh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248656" y="4809744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Material change re-runs only impacted analysis.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02168" y="4279392"/>
            <a:ext cx="2880360" cy="1207008"/>
          </a:xfrm>
          <a:prstGeom prst="roundRect">
            <a:avLst>
              <a:gd name="adj" fmla="val 606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F7A6B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202168" y="4279392"/>
            <a:ext cx="73152" cy="1207008"/>
          </a:xfrm>
          <a:prstGeom prst="rect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403336" y="4425696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Degraded modes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03336" y="4809744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Human-only and rules-only operations when models or tools are unavailable.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NFR focus: cost efficiency and speed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Costs fall when we prevent work, automate evidence and spend intelligence only where value exists.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82C95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73152" cy="1737360"/>
          </a:xfrm>
          <a:prstGeom prst="rect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4447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Prevent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828800"/>
            <a:ext cx="30358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Clarify descriptors, refunds and delivery status before cases are created.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298448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58D8E5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298448"/>
            <a:ext cx="73152" cy="1737360"/>
          </a:xfrm>
          <a:prstGeom prst="rect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6008" y="14447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Reduce manual touches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828800"/>
            <a:ext cx="30358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Auto-classify, extract, reconcile and assemble reviewer-ready packs.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298448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A58BF2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298448"/>
            <a:ext cx="73152" cy="1737360"/>
          </a:xfrm>
          <a:prstGeom prst="rect">
            <a:avLst/>
          </a:prstGeom>
          <a:solidFill>
            <a:srgbClr val="A58BF2"/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30768" y="14447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Use bounded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0768" y="1828800"/>
            <a:ext cx="30358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Shorter context, model routing, caching and human-only fallback control AI spend.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0B44D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73152" cy="1737360"/>
          </a:xfrm>
          <a:prstGeom prst="rect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359359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Prioritize recoverability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" y="3977640"/>
            <a:ext cx="30358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Focus specialist effort on cases with useful evidence and viable deadlines.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447288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13B8A6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4840" y="3447288"/>
            <a:ext cx="73152" cy="173736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36008" y="359359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Avoid duplicate actions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36008" y="3977640"/>
            <a:ext cx="30358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Idempotency and reconciliation prevent repeated postings and scheme submissions.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447288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F7A6B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3447288"/>
            <a:ext cx="73152" cy="1737360"/>
          </a:xfrm>
          <a:prstGeom prst="rect">
            <a:avLst/>
          </a:prstGeom>
          <a:solidFill>
            <a:srgbClr val="FF7A6B"/>
          </a:solidFill>
          <a:ln w="12700">
            <a:solidFill>
              <a:srgbClr val="FF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30768" y="359359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Accelerate decisions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30768" y="3977640"/>
            <a:ext cx="30358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Parallel analysis and proactive evidence requests reduce waiting and rework.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68756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B44D"/>
                </a:solidFill>
              </a:rPr>
              <a:t>Measure against a baseline: cost per case • AI cost per resolved case • manual touches • avoided disputes • recovery value • cycle time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Domain-agnostic by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The intelligence core is common; policies, evidence types and execution rails are configurable.</a:t>
            </a:r>
            <a:endParaRPr lang="en-US" sz="1150" dirty="0"/>
          </a:p>
        </p:txBody>
      </p:sp>
      <p:pic>
        <p:nvPicPr>
          <p:cNvPr id="4" name="Image 0" descr="/mnt/data/6c8438cc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14" y="1078992"/>
            <a:ext cx="761238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5248656"/>
            <a:ext cx="10808208" cy="502920"/>
          </a:xfrm>
          <a:prstGeom prst="roundRect">
            <a:avLst/>
          </a:prstGeom>
          <a:solidFill>
            <a:srgbClr val="071827">
              <a:alpha val="90000"/>
            </a:srgbClr>
          </a:solidFill>
          <a:ln w="12700">
            <a:solidFill>
              <a:srgbClr val="13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0120" y="54041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8FA"/>
                </a:solidFill>
              </a:rPr>
              <a:t>Shared core: evidence • events • contradictions • gaps • hypotheses • workflow • human review • audit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platform, aligned value for every stakeholder</a:t>
            </a:r>
            <a:endParaRPr lang="en-US" sz="2700" dirty="0"/>
          </a:p>
        </p:txBody>
      </p:sp>
      <p:pic>
        <p:nvPicPr>
          <p:cNvPr id="3" name="Image 0" descr="/mnt/data/3a603a733e.png"/>
          <p:cNvPicPr>
            <a:picLocks noChangeAspect="1"/>
          </p:cNvPicPr>
          <p:nvPr/>
        </p:nvPicPr>
        <p:blipFill>
          <a:blip r:embed="rId3"/>
          <a:srcRect l="19728" r="19728"/>
          <a:stretch/>
        </p:blipFill>
        <p:spPr>
          <a:xfrm>
            <a:off x="4069080" y="1143000"/>
            <a:ext cx="406908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38928" y="2359152"/>
            <a:ext cx="1920240" cy="1920240"/>
          </a:xfrm>
          <a:prstGeom prst="ellipse">
            <a:avLst/>
          </a:prstGeom>
          <a:solidFill>
            <a:srgbClr val="071827">
              <a:alpha val="80000"/>
            </a:srgbClr>
          </a:solidFill>
          <a:ln w="1905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40680" y="2779776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4D"/>
                </a:solidFill>
              </a:rPr>
              <a:t>TRUSTED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0B44D"/>
                </a:solidFill>
              </a:rPr>
              <a:t>EVIDENCE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0B44D"/>
                </a:solidFill>
              </a:rPr>
              <a:t>CORE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58D8E5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280160"/>
            <a:ext cx="73152" cy="1280160"/>
          </a:xfrm>
          <a:prstGeom prst="rect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4088" y="142646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Customer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4088" y="1810512"/>
            <a:ext cx="29260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Clearer transactions, fewer accidental disputes, faster genuine-case resolution and transparent status.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8803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82C95A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2880360"/>
            <a:ext cx="73152" cy="1280160"/>
          </a:xfrm>
          <a:prstGeom prst="rect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4088" y="302666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Merchant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088" y="3410712"/>
            <a:ext cx="29260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Lower chargeback leakage, automated evidence, faster response and better revenue protection.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94192" y="12801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A58BF2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394192" y="1280160"/>
            <a:ext cx="73152" cy="1280160"/>
          </a:xfrm>
          <a:prstGeom prst="rect">
            <a:avLst/>
          </a:prstGeom>
          <a:solidFill>
            <a:srgbClr val="A58BF2"/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95360" y="142646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Issuer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95360" y="1810512"/>
            <a:ext cx="29260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Lower write-offs, stronger recovery, lower operational cost and institution-owned intelligence.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94192" y="28803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B2434">
              <a:alpha val="95000"/>
            </a:srgbClr>
          </a:solidFill>
          <a:ln w="15240">
            <a:solidFill>
              <a:srgbClr val="F0B44D">
                <a:alpha val="8500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94192" y="2880360"/>
            <a:ext cx="73152" cy="1280160"/>
          </a:xfrm>
          <a:prstGeom prst="rect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595360" y="3026664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A"/>
                </a:solidFill>
              </a:rPr>
              <a:t>Operations &amp; control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95360" y="3410712"/>
            <a:ext cx="29260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DB8C5"/>
                </a:solidFill>
              </a:rPr>
              <a:t>Prioritized work, fewer missed deadlines, clear approvals, audit replay and safer AI controls.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05840" y="56235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8FA"/>
                </a:solidFill>
              </a:rPr>
              <a:t>Value alignment reduces friction: better context for the customer, less evidence effort for the merchant and stronger control for the issuer.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Pragmatic adoption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8C5"/>
                </a:solidFill>
              </a:rPr>
              <a:t>Prove value without forcing a full POS or network transformation on day one.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578608" cy="4343400"/>
          </a:xfrm>
          <a:prstGeom prst="roundRect">
            <a:avLst/>
          </a:prstGeom>
          <a:solidFill>
            <a:srgbClr val="0B2434"/>
          </a:solidFill>
          <a:ln w="1778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35608" y="1600200"/>
            <a:ext cx="841248" cy="841248"/>
          </a:xfrm>
          <a:prstGeom prst="ellipse">
            <a:avLst/>
          </a:prstGeom>
          <a:solidFill>
            <a:srgbClr val="58D8E5"/>
          </a:solidFill>
          <a:ln w="12700">
            <a:solidFill>
              <a:srgbClr val="58D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64208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Foundation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Guided intake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Evidence intelligence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Existing issuer integrations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Baseline KPIs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3816" y="4636008"/>
            <a:ext cx="20848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8D8E5"/>
                </a:solidFill>
              </a:rPr>
              <a:t>Prove fewer avoidable cases and faster specialist readiness.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3154680"/>
            <a:ext cx="256032" cy="384048"/>
          </a:xfrm>
          <a:prstGeom prst="chevron">
            <a:avLst/>
          </a:prstGeom>
          <a:solidFill>
            <a:srgbClr val="275164">
              <a:alpha val="90000"/>
            </a:srgbClr>
          </a:solidFill>
          <a:ln w="12700">
            <a:solidFill>
              <a:srgbClr val="2751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56432" y="1325880"/>
            <a:ext cx="2578608" cy="4343400"/>
          </a:xfrm>
          <a:prstGeom prst="roundRect">
            <a:avLst/>
          </a:prstGeom>
          <a:solidFill>
            <a:srgbClr val="0B2434"/>
          </a:solidFill>
          <a:ln w="1778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25112" y="1600200"/>
            <a:ext cx="841248" cy="841248"/>
          </a:xfrm>
          <a:prstGeom prst="ellipse">
            <a:avLst/>
          </a:prstGeom>
          <a:solidFill>
            <a:srgbClr val="82C95A"/>
          </a:solidFill>
          <a:ln w="12700">
            <a:solidFill>
              <a:srgbClr val="82C9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53712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1024" y="265176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Merchant collaboration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12464" y="3364992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Merchant portal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API evidence exchange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Pre-chargeback resolution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Recovery assessment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4636008"/>
            <a:ext cx="20848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2C95A"/>
                </a:solidFill>
              </a:rPr>
              <a:t>Increase evidence completeness and revenue recovery.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3154680"/>
            <a:ext cx="256032" cy="384048"/>
          </a:xfrm>
          <a:prstGeom prst="chevron">
            <a:avLst/>
          </a:prstGeom>
          <a:solidFill>
            <a:srgbClr val="275164">
              <a:alpha val="90000"/>
            </a:srgbClr>
          </a:solidFill>
          <a:ln w="12700">
            <a:solidFill>
              <a:srgbClr val="2751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45936" y="1325880"/>
            <a:ext cx="2578608" cy="4343400"/>
          </a:xfrm>
          <a:prstGeom prst="roundRect">
            <a:avLst/>
          </a:prstGeom>
          <a:solidFill>
            <a:srgbClr val="0B2434"/>
          </a:solidFill>
          <a:ln w="1778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14616" y="1600200"/>
            <a:ext cx="841248" cy="84124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43216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0528" y="265176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Scale &amp; optimize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3364992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Gateway/POS software options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Scheme adapters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Multi-market policy packs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FinOps and AI assurance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92824" y="4636008"/>
            <a:ext cx="20848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B44D"/>
                </a:solidFill>
              </a:rPr>
              <a:t>Scale throughput and reduce unit cost.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0" y="3154680"/>
            <a:ext cx="256032" cy="384048"/>
          </a:xfrm>
          <a:prstGeom prst="chevron">
            <a:avLst/>
          </a:prstGeom>
          <a:solidFill>
            <a:srgbClr val="275164">
              <a:alpha val="90000"/>
            </a:srgbClr>
          </a:solidFill>
          <a:ln w="12700">
            <a:solidFill>
              <a:srgbClr val="2751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35440" y="1325880"/>
            <a:ext cx="2578608" cy="4343400"/>
          </a:xfrm>
          <a:prstGeom prst="roundRect">
            <a:avLst/>
          </a:prstGeom>
          <a:solidFill>
            <a:srgbClr val="0B2434"/>
          </a:solidFill>
          <a:ln w="1778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104120" y="1600200"/>
            <a:ext cx="841248" cy="841248"/>
          </a:xfrm>
          <a:prstGeom prst="ellipse">
            <a:avLst/>
          </a:prstGeom>
          <a:solidFill>
            <a:srgbClr val="A58BF2"/>
          </a:solidFill>
          <a:ln w="12700">
            <a:solidFill>
              <a:srgbClr val="A58B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332720" y="1810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827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400032" y="2651760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8FA"/>
                </a:solidFill>
              </a:rPr>
              <a:t>Cross-domain expansion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91472" y="3364992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Instant payments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A2A and wallets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BNPL and claims patterns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DB8C5"/>
                </a:solidFill>
              </a:rPr>
              <a:t>Shared intelligence core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82328" y="4636008"/>
            <a:ext cx="208483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8BF2"/>
                </a:solidFill>
              </a:rPr>
              <a:t>Reuse the platform beyond cards.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17b05b550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>
              <a:alpha val="73000"/>
            </a:srgbClr>
          </a:solidFill>
          <a:ln w="12700">
            <a:solidFill>
              <a:srgbClr val="07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749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B8A6"/>
                </a:solidFill>
              </a:rPr>
              <a:t>Our proposal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3232" y="1234440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</a:rPr>
              <a:t>Turn disputes into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</a:rPr>
              <a:t>institution-owned intelligence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49808" y="2971800"/>
            <a:ext cx="53492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Prevent what should not become a case.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Resolve genuine cases with stronger evidence.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Recover value before write-off.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Keep humans in control.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995160" y="1097280"/>
            <a:ext cx="4315968" cy="4251960"/>
          </a:xfrm>
          <a:prstGeom prst="roundRect">
            <a:avLst/>
          </a:prstGeom>
          <a:solidFill>
            <a:srgbClr val="0B2434">
              <a:alpha val="88000"/>
            </a:srgbClr>
          </a:solidFill>
          <a:ln w="17780">
            <a:solidFill>
              <a:srgbClr val="F0B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88352" y="1481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B44D"/>
                </a:solidFill>
              </a:rPr>
              <a:t>Why this deserves to win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60920" y="21488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2C95A"/>
                </a:solidFill>
              </a:rPr>
              <a:t>✓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54112" y="21396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8FA"/>
                </a:solidFill>
              </a:rPr>
              <a:t>Business outcome-led, not AI-led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60920" y="2679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2C95A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54112" y="26700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8FA"/>
                </a:solidFill>
              </a:rPr>
              <a:t>Architecturally feasible and incrementally adoptable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60920" y="32095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2C95A"/>
                </a:solidFill>
              </a:rPr>
              <a:t>✓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754112" y="3200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8FA"/>
                </a:solidFill>
              </a:rPr>
              <a:t>Differentiated by prevention + evidence graph + recovery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360920" y="3739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2C95A"/>
                </a:solidFill>
              </a:rPr>
              <a:t>✓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54112" y="3730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8FA"/>
                </a:solidFill>
              </a:rPr>
              <a:t>Scalable, domain-agnostic and cost-aware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360920" y="42702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2C95A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754112" y="42611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8FA"/>
                </a:solidFill>
              </a:rPr>
              <a:t>Human-owned, auditable and regulator-ready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B44D"/>
                </a:solidFill>
              </a:rPr>
              <a:t>Thank you • Questions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A6B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2890c3c-0c57-431c-b3b3-bcb876aaf9b9}" enabled="1" method="Standard" siteId="{404b1967-6507-45ab-8a6d-7374a3f478b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2142</Words>
  <Application>Microsoft Office PowerPoint</Application>
  <PresentationFormat>Widescreen</PresentationFormat>
  <Paragraphs>300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Dispute Intelligence Fabric 2.0</dc:title>
  <dc:subject>Dispute Intelligence Fabric jury presentation</dc:subject>
  <dc:creator>Reshma Lall</dc:creator>
  <cp:lastModifiedBy>Reshma Lall</cp:lastModifiedBy>
  <cp:revision>2</cp:revision>
  <dcterms:created xsi:type="dcterms:W3CDTF">2026-09-01T07:21:24Z</dcterms:created>
  <dcterms:modified xsi:type="dcterms:W3CDTF">2026-09-02T05:07:03Z</dcterms:modified>
</cp:coreProperties>
</file>