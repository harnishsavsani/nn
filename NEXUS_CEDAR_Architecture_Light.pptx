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716000" cy="8778240"/>
  <p:notesSz cx="877824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23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CEDAR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AI-Powered Investigation Platform for Intelligent, Automated &amp; Compliant Transaction Disputes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07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VIEW:  Claim Intake  →  Evidence  →  AI Intelligence  →  Decision  →  Human &amp; Policy Review  →  Action  →  Outcome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4B546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81328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50008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14016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Mobile, Chatbot / IVR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852672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16680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860" dirty="0"/>
          </a:p>
        </p:txBody>
      </p:sp>
      <p:sp>
        <p:nvSpPr>
          <p:cNvPr id="12" name="Text 10"/>
          <p:cNvSpPr txBox="1"/>
          <p:nvPr/>
        </p:nvSpPr>
        <p:spPr>
          <a:xfrm>
            <a:off x="3916680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Portal, API / Webhooks, POS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5355336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19344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/ Ops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5419344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workspace, task mgmt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6858000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/ Reviewers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review, analytics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8360664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24672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</a:t>
            </a:r>
            <a:endParaRPr lang="en-US" sz="860" dirty="0"/>
          </a:p>
        </p:txBody>
      </p:sp>
      <p:sp>
        <p:nvSpPr>
          <p:cNvPr id="21" name="Text 19"/>
          <p:cNvSpPr txBox="1"/>
          <p:nvPr/>
        </p:nvSpPr>
        <p:spPr>
          <a:xfrm>
            <a:off x="8424672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/ Checker console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9863328" y="14813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4B54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7336" y="15179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/ Compliance</a:t>
            </a:r>
            <a:endParaRPr lang="en-US" sz="860" dirty="0"/>
          </a:p>
        </p:txBody>
      </p:sp>
      <p:sp>
        <p:nvSpPr>
          <p:cNvPr id="24" name="Text 22"/>
          <p:cNvSpPr txBox="1"/>
          <p:nvPr/>
        </p:nvSpPr>
        <p:spPr>
          <a:xfrm>
            <a:off x="9927336" y="19202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model governance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457200" y="2295144"/>
            <a:ext cx="1783080" cy="1051560"/>
          </a:xfrm>
          <a:prstGeom prst="roundRect">
            <a:avLst>
              <a:gd name="adj" fmla="val 6087"/>
            </a:avLst>
          </a:prstGeom>
          <a:solidFill>
            <a:srgbClr val="7B5B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0352" y="2295144"/>
            <a:ext cx="16367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50008" y="2295144"/>
            <a:ext cx="8942832" cy="256032"/>
          </a:xfrm>
          <a:prstGeom prst="roundRect">
            <a:avLst>
              <a:gd name="adj" fmla="val 17857"/>
            </a:avLst>
          </a:prstGeom>
          <a:solidFill>
            <a:srgbClr val="EDEFF5"/>
          </a:solidFill>
          <a:ln w="9525">
            <a:solidFill>
              <a:srgbClr val="7B5B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50008" y="2295144"/>
            <a:ext cx="8942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 Pipeline · 7-stage flow, human-approved at every consequential step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50008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14016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Intake</a:t>
            </a:r>
            <a:endParaRPr lang="en-US" sz="860" dirty="0"/>
          </a:p>
        </p:txBody>
      </p:sp>
      <p:sp>
        <p:nvSpPr>
          <p:cNvPr id="31" name="Text 29"/>
          <p:cNvSpPr txBox="1"/>
          <p:nvPr/>
        </p:nvSpPr>
        <p:spPr>
          <a:xfrm>
            <a:off x="2414016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&amp; capture claim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3638006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02014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Evidence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3702014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enrich data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4926003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90011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Intelligence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990011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detect contradictions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6214001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78009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Decision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6278009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action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7501999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66007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Human &amp; Policy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7566007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check + human review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8789997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54005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Action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8854005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decision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10077994" y="2587752"/>
            <a:ext cx="1214846" cy="75895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12700">
            <a:solidFill>
              <a:srgbClr val="7B5B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42002" y="2624328"/>
            <a:ext cx="10868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Outcome</a:t>
            </a:r>
            <a:endParaRPr lang="en-US" sz="860" dirty="0"/>
          </a:p>
        </p:txBody>
      </p:sp>
      <p:sp>
        <p:nvSpPr>
          <p:cNvPr id="49" name="Text 47"/>
          <p:cNvSpPr txBox="1"/>
          <p:nvPr/>
        </p:nvSpPr>
        <p:spPr>
          <a:xfrm>
            <a:off x="10142002" y="3031236"/>
            <a:ext cx="10868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closed or continued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457200" y="3410712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D6549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30352" y="3410712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 LOOP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2350008" y="3410712"/>
            <a:ext cx="218084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6549C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414016" y="3447288"/>
            <a:ext cx="20528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/ New Evidence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2414016" y="3849624"/>
            <a:ext cx="20528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evidence, clarification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4604004" y="3410712"/>
            <a:ext cx="218084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6549C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68012" y="3447288"/>
            <a:ext cx="20528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4668012" y="3849624"/>
            <a:ext cx="20528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affected claims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6858000" y="3410712"/>
            <a:ext cx="218084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6549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22008" y="3447288"/>
            <a:ext cx="20528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Reassessment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6922008" y="3849624"/>
            <a:ext cx="20528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AI reasoning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9111996" y="3410712"/>
            <a:ext cx="2180844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6549C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176004" y="3447288"/>
            <a:ext cx="20528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Decision Version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9176004" y="3849624"/>
            <a:ext cx="20528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4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changed &amp; why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457200" y="422452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0E738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30352" y="4224528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350008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414016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</a:t>
            </a:r>
            <a:endParaRPr lang="en-US" sz="860" dirty="0"/>
          </a:p>
        </p:txBody>
      </p:sp>
      <p:sp>
        <p:nvSpPr>
          <p:cNvPr id="68" name="Text 66"/>
          <p:cNvSpPr txBox="1"/>
          <p:nvPr/>
        </p:nvSpPr>
        <p:spPr>
          <a:xfrm>
            <a:off x="2414016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/ AuthZ, RBAC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852672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3916680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860" dirty="0"/>
          </a:p>
        </p:txBody>
      </p:sp>
      <p:sp>
        <p:nvSpPr>
          <p:cNvPr id="71" name="Text 69"/>
          <p:cNvSpPr txBox="1"/>
          <p:nvPr/>
        </p:nvSpPr>
        <p:spPr>
          <a:xfrm>
            <a:off x="3916680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masking</a:t>
            </a:r>
            <a:endParaRPr lang="en-US" sz="690" dirty="0"/>
          </a:p>
        </p:txBody>
      </p:sp>
      <p:sp>
        <p:nvSpPr>
          <p:cNvPr id="72" name="Shape 70"/>
          <p:cNvSpPr/>
          <p:nvPr/>
        </p:nvSpPr>
        <p:spPr>
          <a:xfrm>
            <a:off x="5355336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419344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Timeline</a:t>
            </a:r>
            <a:endParaRPr lang="en-US" sz="860" dirty="0"/>
          </a:p>
        </p:txBody>
      </p:sp>
      <p:sp>
        <p:nvSpPr>
          <p:cNvPr id="74" name="Text 72"/>
          <p:cNvSpPr txBox="1"/>
          <p:nvPr/>
        </p:nvSpPr>
        <p:spPr>
          <a:xfrm>
            <a:off x="5419344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history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6858000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922008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</a:t>
            </a:r>
            <a:endParaRPr lang="en-US" sz="860" dirty="0"/>
          </a:p>
        </p:txBody>
      </p:sp>
      <p:sp>
        <p:nvSpPr>
          <p:cNvPr id="77" name="Text 75"/>
          <p:cNvSpPr txBox="1"/>
          <p:nvPr/>
        </p:nvSpPr>
        <p:spPr>
          <a:xfrm>
            <a:off x="6922008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safety checks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8360664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424672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860" dirty="0"/>
          </a:p>
        </p:txBody>
      </p:sp>
      <p:sp>
        <p:nvSpPr>
          <p:cNvPr id="80" name="Text 78"/>
          <p:cNvSpPr txBox="1"/>
          <p:nvPr/>
        </p:nvSpPr>
        <p:spPr>
          <a:xfrm>
            <a:off x="8424672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ops alerts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9863328" y="4224528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0E738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927336" y="4261104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Metrics</a:t>
            </a:r>
            <a:endParaRPr lang="en-US" sz="860" dirty="0"/>
          </a:p>
        </p:txBody>
      </p:sp>
      <p:sp>
        <p:nvSpPr>
          <p:cNvPr id="83" name="Text 81"/>
          <p:cNvSpPr txBox="1"/>
          <p:nvPr/>
        </p:nvSpPr>
        <p:spPr>
          <a:xfrm>
            <a:off x="9927336" y="4663440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performance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457200" y="5038344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3A6EDE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530352" y="5038344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2350008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414016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DB</a:t>
            </a:r>
            <a:endParaRPr lang="en-US" sz="860" dirty="0"/>
          </a:p>
        </p:txBody>
      </p:sp>
      <p:sp>
        <p:nvSpPr>
          <p:cNvPr id="88" name="Text 86"/>
          <p:cNvSpPr txBox="1"/>
          <p:nvPr/>
        </p:nvSpPr>
        <p:spPr>
          <a:xfrm>
            <a:off x="2414016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cases, approvals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3852672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916680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</a:t>
            </a:r>
            <a:endParaRPr lang="en-US" sz="860" dirty="0"/>
          </a:p>
        </p:txBody>
      </p:sp>
      <p:sp>
        <p:nvSpPr>
          <p:cNvPr id="91" name="Text 89"/>
          <p:cNvSpPr txBox="1"/>
          <p:nvPr/>
        </p:nvSpPr>
        <p:spPr>
          <a:xfrm>
            <a:off x="3916680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docs, media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5355336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419344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860" dirty="0"/>
          </a:p>
        </p:txBody>
      </p:sp>
      <p:sp>
        <p:nvSpPr>
          <p:cNvPr id="94" name="Text 92"/>
          <p:cNvSpPr txBox="1"/>
          <p:nvPr/>
        </p:nvSpPr>
        <p:spPr>
          <a:xfrm>
            <a:off x="5419344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assertions, events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6858000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922008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860" dirty="0"/>
          </a:p>
        </p:txBody>
      </p:sp>
      <p:sp>
        <p:nvSpPr>
          <p:cNvPr id="97" name="Text 95"/>
          <p:cNvSpPr txBox="1"/>
          <p:nvPr/>
        </p:nvSpPr>
        <p:spPr>
          <a:xfrm>
            <a:off x="6922008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 &amp; semantic search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8360664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424672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860" dirty="0"/>
          </a:p>
        </p:txBody>
      </p:sp>
      <p:sp>
        <p:nvSpPr>
          <p:cNvPr id="100" name="Text 98"/>
          <p:cNvSpPr txBox="1"/>
          <p:nvPr/>
        </p:nvSpPr>
        <p:spPr>
          <a:xfrm>
            <a:off x="8424672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similarity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9863328" y="5038344"/>
            <a:ext cx="1429512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3A6EDE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927336" y="5074920"/>
            <a:ext cx="1301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860" dirty="0"/>
          </a:p>
        </p:txBody>
      </p:sp>
      <p:sp>
        <p:nvSpPr>
          <p:cNvPr id="103" name="Text 101"/>
          <p:cNvSpPr txBox="1"/>
          <p:nvPr/>
        </p:nvSpPr>
        <p:spPr>
          <a:xfrm>
            <a:off x="9927336" y="5477256"/>
            <a:ext cx="1301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sessions, rate limits</a:t>
            </a:r>
            <a:endParaRPr lang="en-US" sz="690" dirty="0"/>
          </a:p>
        </p:txBody>
      </p:sp>
      <p:sp>
        <p:nvSpPr>
          <p:cNvPr id="104" name="Shape 102"/>
          <p:cNvSpPr/>
          <p:nvPr/>
        </p:nvSpPr>
        <p:spPr>
          <a:xfrm>
            <a:off x="457200" y="585216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D77605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530352" y="5852160"/>
            <a:ext cx="16367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LAYER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350008" y="5852160"/>
            <a:ext cx="8942832" cy="256032"/>
          </a:xfrm>
          <a:prstGeom prst="roundRect">
            <a:avLst>
              <a:gd name="adj" fmla="val 17857"/>
            </a:avLst>
          </a:prstGeom>
          <a:solidFill>
            <a:srgbClr val="EDEFF5"/>
          </a:solidFill>
          <a:ln w="9525">
            <a:solidFill>
              <a:srgbClr val="D77605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350008" y="5852160"/>
            <a:ext cx="8942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776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/ Message Bus — Kafka / Azure Event Hubs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350008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414016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Framework</a:t>
            </a:r>
            <a:endParaRPr lang="en-US" sz="860" dirty="0"/>
          </a:p>
        </p:txBody>
      </p:sp>
      <p:sp>
        <p:nvSpPr>
          <p:cNvPr id="110" name="Text 108"/>
          <p:cNvSpPr txBox="1"/>
          <p:nvPr/>
        </p:nvSpPr>
        <p:spPr>
          <a:xfrm>
            <a:off x="2414016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adapters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3852672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3916680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Gateway</a:t>
            </a:r>
            <a:endParaRPr lang="en-US" sz="860" dirty="0"/>
          </a:p>
        </p:txBody>
      </p:sp>
      <p:sp>
        <p:nvSpPr>
          <p:cNvPr id="113" name="Text 111"/>
          <p:cNvSpPr txBox="1"/>
          <p:nvPr/>
        </p:nvSpPr>
        <p:spPr>
          <a:xfrm>
            <a:off x="3916680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webhooks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5355336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5419344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Ingestion</a:t>
            </a:r>
            <a:endParaRPr lang="en-US" sz="860" dirty="0"/>
          </a:p>
        </p:txBody>
      </p:sp>
      <p:sp>
        <p:nvSpPr>
          <p:cNvPr id="116" name="Text 114"/>
          <p:cNvSpPr txBox="1"/>
          <p:nvPr/>
        </p:nvSpPr>
        <p:spPr>
          <a:xfrm>
            <a:off x="5419344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/ API / batch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6858000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922008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Service</a:t>
            </a:r>
            <a:endParaRPr lang="en-US" sz="860" dirty="0"/>
          </a:p>
        </p:txBody>
      </p:sp>
      <p:sp>
        <p:nvSpPr>
          <p:cNvPr id="119" name="Text 117"/>
          <p:cNvSpPr txBox="1"/>
          <p:nvPr/>
        </p:nvSpPr>
        <p:spPr>
          <a:xfrm>
            <a:off x="6922008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8360664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424672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Service</a:t>
            </a:r>
            <a:endParaRPr lang="en-US" sz="860" dirty="0"/>
          </a:p>
        </p:txBody>
      </p:sp>
      <p:sp>
        <p:nvSpPr>
          <p:cNvPr id="122" name="Text 120"/>
          <p:cNvSpPr txBox="1"/>
          <p:nvPr/>
        </p:nvSpPr>
        <p:spPr>
          <a:xfrm>
            <a:off x="8424672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outcome reconcile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9863328" y="6144768"/>
            <a:ext cx="1429512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77605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9927336" y="6181344"/>
            <a:ext cx="130149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/ Orchestration</a:t>
            </a:r>
            <a:endParaRPr lang="en-US" sz="860" dirty="0"/>
          </a:p>
        </p:txBody>
      </p:sp>
      <p:sp>
        <p:nvSpPr>
          <p:cNvPr id="125" name="Text 123"/>
          <p:cNvSpPr txBox="1"/>
          <p:nvPr/>
        </p:nvSpPr>
        <p:spPr>
          <a:xfrm>
            <a:off x="9927336" y="6542532"/>
            <a:ext cx="130149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 jobs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457200" y="687628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5A6472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530352" y="6876288"/>
            <a:ext cx="1636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LAYER</a:t>
            </a:r>
            <a:endParaRPr lang="en-US" sz="1150" dirty="0"/>
          </a:p>
        </p:txBody>
      </p:sp>
      <p:sp>
        <p:nvSpPr>
          <p:cNvPr id="128" name="Shape 126"/>
          <p:cNvSpPr/>
          <p:nvPr/>
        </p:nvSpPr>
        <p:spPr>
          <a:xfrm>
            <a:off x="2350008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2414016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Platform</a:t>
            </a:r>
            <a:endParaRPr lang="en-US" sz="860" dirty="0"/>
          </a:p>
        </p:txBody>
      </p:sp>
      <p:sp>
        <p:nvSpPr>
          <p:cNvPr id="130" name="Text 128"/>
          <p:cNvSpPr txBox="1"/>
          <p:nvPr/>
        </p:nvSpPr>
        <p:spPr>
          <a:xfrm>
            <a:off x="2414016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AKS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3638006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3702014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860" dirty="0"/>
          </a:p>
        </p:txBody>
      </p:sp>
      <p:sp>
        <p:nvSpPr>
          <p:cNvPr id="133" name="Text 131"/>
          <p:cNvSpPr txBox="1"/>
          <p:nvPr/>
        </p:nvSpPr>
        <p:spPr>
          <a:xfrm>
            <a:off x="3702014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Azure DevOps</a:t>
            </a: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4926003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4990011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Mgmt</a:t>
            </a:r>
            <a:endParaRPr lang="en-US" sz="860" dirty="0"/>
          </a:p>
        </p:txBody>
      </p:sp>
      <p:sp>
        <p:nvSpPr>
          <p:cNvPr id="136" name="Text 134"/>
          <p:cNvSpPr txBox="1"/>
          <p:nvPr/>
        </p:nvSpPr>
        <p:spPr>
          <a:xfrm>
            <a:off x="4990011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</a:t>
            </a:r>
            <a:endParaRPr lang="en-US" sz="690" dirty="0"/>
          </a:p>
        </p:txBody>
      </p:sp>
      <p:sp>
        <p:nvSpPr>
          <p:cNvPr id="137" name="Shape 135"/>
          <p:cNvSpPr/>
          <p:nvPr/>
        </p:nvSpPr>
        <p:spPr>
          <a:xfrm>
            <a:off x="6214001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6278009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60" dirty="0"/>
          </a:p>
        </p:txBody>
      </p:sp>
      <p:sp>
        <p:nvSpPr>
          <p:cNvPr id="139" name="Text 137"/>
          <p:cNvSpPr txBox="1"/>
          <p:nvPr/>
        </p:nvSpPr>
        <p:spPr>
          <a:xfrm>
            <a:off x="6278009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ELK</a:t>
            </a:r>
            <a:endParaRPr lang="en-US" sz="690" dirty="0"/>
          </a:p>
        </p:txBody>
      </p:sp>
      <p:sp>
        <p:nvSpPr>
          <p:cNvPr id="140" name="Shape 138"/>
          <p:cNvSpPr/>
          <p:nvPr/>
        </p:nvSpPr>
        <p:spPr>
          <a:xfrm>
            <a:off x="7501999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7566007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860" dirty="0"/>
          </a:p>
        </p:txBody>
      </p:sp>
      <p:sp>
        <p:nvSpPr>
          <p:cNvPr id="142" name="Text 140"/>
          <p:cNvSpPr txBox="1"/>
          <p:nvPr/>
        </p:nvSpPr>
        <p:spPr>
          <a:xfrm>
            <a:off x="7566007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logs, SIEM</a:t>
            </a:r>
            <a:endParaRPr lang="en-US" sz="690" dirty="0"/>
          </a:p>
        </p:txBody>
      </p:sp>
      <p:sp>
        <p:nvSpPr>
          <p:cNvPr id="143" name="Shape 141"/>
          <p:cNvSpPr/>
          <p:nvPr/>
        </p:nvSpPr>
        <p:spPr>
          <a:xfrm>
            <a:off x="8789997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8854005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DR</a:t>
            </a:r>
            <a:endParaRPr lang="en-US" sz="860" dirty="0"/>
          </a:p>
        </p:txBody>
      </p:sp>
      <p:sp>
        <p:nvSpPr>
          <p:cNvPr id="145" name="Text 143"/>
          <p:cNvSpPr txBox="1"/>
          <p:nvPr/>
        </p:nvSpPr>
        <p:spPr>
          <a:xfrm>
            <a:off x="8854005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DR</a:t>
            </a:r>
            <a:endParaRPr lang="en-US" sz="690" dirty="0"/>
          </a:p>
        </p:txBody>
      </p:sp>
      <p:sp>
        <p:nvSpPr>
          <p:cNvPr id="146" name="Shape 144"/>
          <p:cNvSpPr/>
          <p:nvPr/>
        </p:nvSpPr>
        <p:spPr>
          <a:xfrm>
            <a:off x="10077994" y="6876288"/>
            <a:ext cx="121484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0142002" y="6912864"/>
            <a:ext cx="108683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86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Mgmt</a:t>
            </a:r>
            <a:endParaRPr lang="en-US" sz="860" dirty="0"/>
          </a:p>
        </p:txBody>
      </p:sp>
      <p:sp>
        <p:nvSpPr>
          <p:cNvPr id="148" name="Text 146"/>
          <p:cNvSpPr txBox="1"/>
          <p:nvPr/>
        </p:nvSpPr>
        <p:spPr>
          <a:xfrm>
            <a:off x="10142002" y="7315200"/>
            <a:ext cx="10868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9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FinOps, budgets, alerts</a:t>
            </a:r>
            <a:endParaRPr lang="en-US" sz="690" dirty="0"/>
          </a:p>
        </p:txBody>
      </p:sp>
      <p:sp>
        <p:nvSpPr>
          <p:cNvPr id="149" name="Shape 147"/>
          <p:cNvSpPr/>
          <p:nvPr/>
        </p:nvSpPr>
        <p:spPr>
          <a:xfrm>
            <a:off x="457200" y="7699248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DEFF5"/>
          </a:solidFill>
          <a:ln w="9525">
            <a:solidFill>
              <a:srgbClr val="D8DCE6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594360" y="76992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3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ORDER 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cards (1–7) in Core Pipeline run in sequence. Each row below is an independent architecture layer.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5806440" y="769924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EDEFF5"/>
          </a:solidFill>
          <a:ln w="9525">
            <a:solidFill>
              <a:srgbClr val="D8DCE6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5943600" y="7699248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3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 </a:t>
            </a:r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LangGraph · PostgreSQL · Supabase · Kafka · Docker/K8s · Azure/AWS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457200" y="8339328"/>
            <a:ext cx="10835640" cy="384048"/>
          </a:xfrm>
          <a:prstGeom prst="roundRect">
            <a:avLst>
              <a:gd name="adj" fmla="val 19048"/>
            </a:avLst>
          </a:prstGeom>
          <a:solidFill>
            <a:srgbClr val="F6A8D2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640080" y="833932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 —  AI recommends.  Policy authorizes.  Human is accountable.  Software executes.  Every change is visible.</a:t>
            </a:r>
            <a:endParaRPr lang="en-US" sz="1150" dirty="0"/>
          </a:p>
        </p:txBody>
      </p:sp>
      <p:sp>
        <p:nvSpPr>
          <p:cNvPr id="155" name="Shape 153"/>
          <p:cNvSpPr/>
          <p:nvPr/>
        </p:nvSpPr>
        <p:spPr>
          <a:xfrm>
            <a:off x="11475720" y="148132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3A6EDE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11475720" y="148132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SYSTEMS</a:t>
            </a:r>
            <a:endParaRPr lang="en-US" sz="950" dirty="0"/>
          </a:p>
        </p:txBody>
      </p:sp>
      <p:sp>
        <p:nvSpPr>
          <p:cNvPr id="157" name="Shape 155"/>
          <p:cNvSpPr/>
          <p:nvPr/>
        </p:nvSpPr>
        <p:spPr>
          <a:xfrm>
            <a:off x="11475720" y="1810512"/>
            <a:ext cx="1783080" cy="2880360"/>
          </a:xfrm>
          <a:prstGeom prst="roundRect">
            <a:avLst>
              <a:gd name="adj" fmla="val 3077"/>
            </a:avLst>
          </a:prstGeom>
          <a:solidFill>
            <a:srgbClr val="EDEFF5"/>
          </a:solidFill>
          <a:ln w="9525">
            <a:solidFill>
              <a:srgbClr val="3A6EDE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1612880" y="1901952"/>
            <a:ext cx="1508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/ Mastercard / Amex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Core Banking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 / Processor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Systems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3DS / Authentication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Systems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Logistics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Gateway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/ Accounting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 / RTP / UPI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Identity Providers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11475720" y="4846320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0E738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11475720" y="48463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CAPABILITIES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11475720" y="5175504"/>
            <a:ext cx="1783080" cy="1691640"/>
          </a:xfrm>
          <a:prstGeom prst="roundRect">
            <a:avLst>
              <a:gd name="adj" fmla="val 3243"/>
            </a:avLst>
          </a:prstGeom>
          <a:solidFill>
            <a:srgbClr val="EDEFF5"/>
          </a:solidFill>
          <a:ln w="9525">
            <a:solidFill>
              <a:srgbClr val="0E738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11612880" y="5266944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Zero Trust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Protection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Rule Engine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Governance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Reporting &amp; BI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11475720" y="6995160"/>
            <a:ext cx="1783080" cy="274320"/>
          </a:xfrm>
          <a:prstGeom prst="roundRect">
            <a:avLst>
              <a:gd name="adj" fmla="val 20000"/>
            </a:avLst>
          </a:prstGeom>
          <a:solidFill>
            <a:srgbClr val="7B5BE0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11475720" y="6995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950" dirty="0"/>
          </a:p>
        </p:txBody>
      </p:sp>
      <p:sp>
        <p:nvSpPr>
          <p:cNvPr id="165" name="Shape 163"/>
          <p:cNvSpPr/>
          <p:nvPr/>
        </p:nvSpPr>
        <p:spPr>
          <a:xfrm>
            <a:off x="11475720" y="7287768"/>
            <a:ext cx="1783080" cy="1417320"/>
          </a:xfrm>
          <a:prstGeom prst="roundRect">
            <a:avLst>
              <a:gd name="adj" fmla="val 3871"/>
            </a:avLst>
          </a:prstGeom>
          <a:solidFill>
            <a:srgbClr val="EDEFF5"/>
          </a:solidFill>
          <a:ln w="9525">
            <a:solidFill>
              <a:srgbClr val="7B5BE0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11612880" y="7397496"/>
            <a:ext cx="1508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GPT-4.1, Claude, Gemini</a:t>
            </a:r>
            <a:endParaRPr lang="en-US" sz="85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tasks: GPT-4.1 mini, Haiku</a:t>
            </a:r>
            <a:endParaRPr lang="en-US" sz="85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text-embedding-3-large</a:t>
            </a:r>
            <a:endParaRPr lang="en-US" sz="85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multi-provider + OSS fallback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23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1101852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Channels &amp; Stakeholders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merchants, investigators, specialists, approvers, and auditors, each working through a role-specific workspace rather than one generic UI.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Core Pipeline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7-stage agentic flow — Intake → Evidence → AI Intelligence → Decision → Human &amp; Policy → Action → Outcome — with a mandatory human approval gate before any consequential action.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 Reassessment Loop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late or new evidence, finds every decision that depended on it, re-runs only that reasoning, and produces a new, traceable decision version.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Services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security, data protection, audit &amp; timeline, AI guardrails, notifications, and monitoring shared by every other layer.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&amp; Knowledge Layer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DB, evidence store, knowledge graph, search index, vector store, and cache — each purpose-built for a different access pattern.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&amp; Event Layer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Event-streaming backbone (Kafka / Azure Event Hubs) plus connectors, webhooks, and idempotent, reconciled integration with external systems.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Platform &amp; Operations Layer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CI/CD, secrets, observability, compliance auditing, backup/DR, and cost management — what makes the platform operable, not just functional.</a:t>
            </a:r>
            <a:endParaRPr lang="en-US" sz="1500" dirty="0"/>
          </a:p>
          <a:p>
            <a:pPr indent="0" marL="0">
              <a:lnSpc>
                <a:spcPct val="12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 principle — </a:t>
            </a:r>
            <a:pPr indent="0" marL="0">
              <a:lnSpc>
                <a:spcPct val="12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Policy authorizes. Human is accountable. Software executes. Every layer enforces that separation.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2026-09-02T17:18:01Z</dcterms:created>
  <dcterms:modified xsi:type="dcterms:W3CDTF">2026-09-02T17:18:01Z</dcterms:modified>
</cp:coreProperties>
</file>