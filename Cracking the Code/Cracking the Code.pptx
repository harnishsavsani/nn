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69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9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0E8C77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3291840"/>
            <a:ext cx="3291840" cy="3291840"/>
          </a:xfrm>
          <a:prstGeom prst="ellipse">
            <a:avLst/>
          </a:prstGeom>
          <a:solidFill>
            <a:srgbClr val="F4A93C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PREP  ·  PROBLEM BREAKDOWN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Cracking the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Enterprise Context for Next-Gen Agentic AI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r>
              <a:rPr lang="en-US" sz="18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r>
              <a:rPr lang="en-US" sz="18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r>
              <a:rPr lang="en-US" sz="18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82296" cy="96012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41605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Context-Aware Enterprise Intelligence Platform that lets Agentic AI securely understand, retain, govern, and apply enterprise knowledge.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Swati Gangurde  ·  Tech Lead &amp; Solution Architect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Enterprise AI Agents Fail at Real 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can't reliably understand, retain, and use enterprise context — the mix of structure, rules, decisions, permissions, and scattered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2606040" cy="100584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23060" y="2560320"/>
            <a:ext cx="1005840" cy="10058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27889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51560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scattered across many disconnected tools and systems.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685032" y="214884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85032" y="2148840"/>
            <a:ext cx="2606040" cy="100584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85132" y="2560320"/>
            <a:ext cx="1005840" cy="10058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2" y="27889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22192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Large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913632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won't fit inside a model's context window.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47104" y="214884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547104" y="2148840"/>
            <a:ext cx="2606040" cy="100584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347204" y="2560320"/>
            <a:ext cx="1005840" cy="10058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804" y="27889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84264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 Retrieval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775704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pulls the wrong, partial, or irrelevant data.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409176" y="2148840"/>
            <a:ext cx="26060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409176" y="2148840"/>
            <a:ext cx="2606040" cy="100584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0209276" y="2560320"/>
            <a:ext cx="1005840" cy="10058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876" y="27889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46336" y="3749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Durable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637776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unified, structured, persistent memory — so agents forget.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DIMENSION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Goes Beyond Text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agents must understand and reason across every modality — accurately, securely, and compliantly.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2194560"/>
            <a:ext cx="3383280" cy="1600200"/>
          </a:xfrm>
          <a:prstGeom prst="rect">
            <a:avLst/>
          </a:prstGeom>
          <a:solidFill>
            <a:srgbClr val="14283F"/>
          </a:solidFill>
          <a:ln w="12700">
            <a:solidFill>
              <a:srgbClr val="0E8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5880" y="2583180"/>
            <a:ext cx="822960" cy="82296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7843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31720" y="219456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2194560"/>
            <a:ext cx="3383280" cy="1600200"/>
          </a:xfrm>
          <a:prstGeom prst="rect">
            <a:avLst/>
          </a:prstGeom>
          <a:solidFill>
            <a:srgbClr val="14283F"/>
          </a:solidFill>
          <a:ln w="12700">
            <a:solidFill>
              <a:srgbClr val="0E8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0" y="2583180"/>
            <a:ext cx="822960" cy="82296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7843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0" y="219456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458200" y="2194560"/>
            <a:ext cx="3383280" cy="1600200"/>
          </a:xfrm>
          <a:prstGeom prst="rect">
            <a:avLst/>
          </a:prstGeom>
          <a:solidFill>
            <a:srgbClr val="14283F"/>
          </a:solidFill>
          <a:ln w="12700">
            <a:solidFill>
              <a:srgbClr val="0E8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732520" y="2583180"/>
            <a:ext cx="822960" cy="82296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27843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38360" y="219456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1051560" y="4114800"/>
            <a:ext cx="3383280" cy="1600200"/>
          </a:xfrm>
          <a:prstGeom prst="rect">
            <a:avLst/>
          </a:prstGeom>
          <a:solidFill>
            <a:srgbClr val="14283F"/>
          </a:solidFill>
          <a:ln w="12700">
            <a:solidFill>
              <a:srgbClr val="0E8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325880" y="4503420"/>
            <a:ext cx="822960" cy="82296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048" y="470458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31720" y="41148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4754880" y="4114800"/>
            <a:ext cx="3383280" cy="1600200"/>
          </a:xfrm>
          <a:prstGeom prst="rect">
            <a:avLst/>
          </a:prstGeom>
          <a:solidFill>
            <a:srgbClr val="14283F"/>
          </a:solidFill>
          <a:ln w="12700">
            <a:solidFill>
              <a:srgbClr val="0E8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029200" y="4503420"/>
            <a:ext cx="822960" cy="82296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4704588"/>
            <a:ext cx="420624" cy="4206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35040" y="41148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Apps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8458200" y="4114800"/>
            <a:ext cx="3383280" cy="1600200"/>
          </a:xfrm>
          <a:prstGeom prst="rect">
            <a:avLst/>
          </a:prstGeom>
          <a:solidFill>
            <a:srgbClr val="14283F"/>
          </a:solidFill>
          <a:ln w="12700">
            <a:solidFill>
              <a:srgbClr val="0E8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8732520" y="4503420"/>
            <a:ext cx="822960" cy="82296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3688" y="4704588"/>
            <a:ext cx="420624" cy="4206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38360" y="41148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Beyond Text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Capabilities the Platform Must Deliver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6568" y="187452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6568" y="1874520"/>
            <a:ext cx="91440" cy="182880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2600" y="2130552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04" y="227685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2408" y="20756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 Unified Memory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260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 for rules, permissions, specs &amp; multimodal knowledge.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06928" y="187452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06928" y="1874520"/>
            <a:ext cx="91440" cy="182880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62960" y="2130552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264" y="227685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12768" y="20756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&amp; Integration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629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right info across text, docs, media &amp; systems.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87288" y="187452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87288" y="1874520"/>
            <a:ext cx="91440" cy="182880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43320" y="2130552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624" y="227685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93128" y="20756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State &amp; Orchestration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4332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agents across long-running processes.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067648" y="187452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067648" y="1874520"/>
            <a:ext cx="91440" cy="182880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323680" y="2130552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9984" y="2276856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73488" y="20756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Learning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32368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Feedback-driven, versioned, adaptive context.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866748" y="393192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866748" y="3931920"/>
            <a:ext cx="91440" cy="182880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2122780" y="4187952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9084" y="4334256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872588" y="41330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212278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Relevant, trusted, traceable, business-aligned context.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747108" y="393192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4747108" y="3931920"/>
            <a:ext cx="91440" cy="182880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5003140" y="4187952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9444" y="4334256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752948" y="41330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Spec-Driven Development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500314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bound to approved rules &amp; acceptance criteria.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7627468" y="393192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7627468" y="3931920"/>
            <a:ext cx="91440" cy="182880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7883500" y="4187952"/>
            <a:ext cx="640080" cy="64008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9804" y="4334256"/>
            <a:ext cx="347472" cy="34747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633308" y="41330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</a:t>
            </a:r>
            <a:endParaRPr lang="en-US" sz="1350" dirty="0"/>
          </a:p>
        </p:txBody>
      </p:sp>
      <p:sp>
        <p:nvSpPr>
          <p:cNvPr id="46" name="Text 37"/>
          <p:cNvSpPr/>
          <p:nvPr/>
        </p:nvSpPr>
        <p:spPr>
          <a:xfrm>
            <a:off x="7883500" y="4937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explainability, privacy, oversight, compliance.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Expected Solution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BLUEPRINT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Clean Layers, One Enterprise Brain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51560" y="1783080"/>
            <a:ext cx="10058400" cy="841248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783080"/>
            <a:ext cx="822960" cy="841248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9842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34640" y="178308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12280" y="178308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pull from every enterprise source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51560" y="2752344"/>
            <a:ext cx="10058400" cy="841248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51560" y="2752344"/>
            <a:ext cx="822960" cy="841248"/>
          </a:xfrm>
          <a:prstGeom prst="rect">
            <a:avLst/>
          </a:prstGeom>
          <a:solidFill>
            <a:srgbClr val="0E8C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51560" y="275234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295351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34640" y="2752344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Multimodal Memory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812280" y="275234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durable enterprise knowledge store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051560" y="3721608"/>
            <a:ext cx="10058400" cy="841248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51560" y="3721608"/>
            <a:ext cx="822960" cy="841248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51560" y="372160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3922776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834640" y="3721608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812280" y="3721608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Relevance, trust &amp; traceability for every prompt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051560" y="4690872"/>
            <a:ext cx="10058400" cy="841248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51560" y="4690872"/>
            <a:ext cx="822960" cy="841248"/>
          </a:xfrm>
          <a:prstGeom prst="rect">
            <a:avLst/>
          </a:prstGeom>
          <a:solidFill>
            <a:srgbClr val="0E8C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051560" y="469087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4892040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834640" y="4690872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State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812280" y="469087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Multi-agent, long-running task coordination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1051560" y="5660136"/>
            <a:ext cx="10058400" cy="841248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051560" y="5660136"/>
            <a:ext cx="822960" cy="841248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1051560" y="566013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8840" y="5861304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834640" y="5660136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812280" y="566013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Spec-Driven control + Responsible AI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Blueprint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BUSINESS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Industry, Go Deep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94564" y="1965960"/>
            <a:ext cx="21488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4564" y="1965960"/>
            <a:ext cx="214884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52" y="211226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0284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7444" y="35661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work orders, SOP checklists &amp; multimodal maintenance.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07996" y="1965960"/>
            <a:ext cx="21488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07996" y="1965960"/>
            <a:ext cx="214884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384" y="2112264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53716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&amp; Insurance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90876" y="35661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risk, explainable decisions &amp; spec-driven underwriting.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1428" y="1965960"/>
            <a:ext cx="21488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21428" y="1965960"/>
            <a:ext cx="214884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816" y="2112264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67148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Telecommunications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04308" y="35661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Context-retaining support, smart routing &amp; outage guidance.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34860" y="1965960"/>
            <a:ext cx="21488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334860" y="1965960"/>
            <a:ext cx="214884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248" y="2112264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8058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517740" y="35661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customer view, personalized &amp; entitlement-aligned offers.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648292" y="1965960"/>
            <a:ext cx="21488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648292" y="1965960"/>
            <a:ext cx="2148840" cy="7772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6680" y="2112264"/>
            <a:ext cx="512064" cy="5120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94012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831172" y="356616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 recall, safe multi-provider care &amp; consent.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Scenarios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Judging Scorecard — Hit All Eight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1351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202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enterprise memory &amp; context management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29400" y="1920240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13512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0" y="19202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context understanding (text, image, audio, video)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05840" y="3044952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3259836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4520" y="304495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context engineering &amp; grounding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629400" y="3044952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3259836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98080" y="304495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Specification-driven agent behavior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1005840" y="4169664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4384548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874520" y="416966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multi-agent orchestration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629400" y="4169664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4384548"/>
            <a:ext cx="438912" cy="4389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98080" y="416966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governance compliance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1005840" y="5294376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5509260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874520" y="529437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readiness &amp; auditability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6629400" y="5294376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5509260"/>
            <a:ext cx="438912" cy="43891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498080" y="529437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 across business functions</a:t>
            </a:r>
            <a:endParaRPr lang="en-US" sz="1350" dirty="0"/>
          </a:p>
        </p:txBody>
      </p:sp>
      <p:sp>
        <p:nvSpPr>
          <p:cNvPr id="29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Success Criteria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DEEP-DIVE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Manufacturing, Mapped to All 8 Criteria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82296" cy="86868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61872" y="2098548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22174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920240" y="23042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equipment histories &amp; maintenance logs retained across shifts.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29400" y="1920240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29400" y="1920240"/>
            <a:ext cx="82296" cy="86868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85432" y="2098548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22174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Understanding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543800" y="23042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Manuals, drawings, sensor telemetry, inspection images &amp; video.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005840" y="3044952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05840" y="3044952"/>
            <a:ext cx="82296" cy="86868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261872" y="3223260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744" y="33421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0240" y="3136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920240" y="34290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SOP checklists surface only the latest, relevant rules.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629400" y="3044952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629400" y="3044952"/>
            <a:ext cx="82296" cy="86868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885432" y="3223260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33421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3800" y="3136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Behavior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543800" y="34290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follow certification rules &amp; machine-specific specs.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1005840" y="4169664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005840" y="4169664"/>
            <a:ext cx="82296" cy="86868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261872" y="4347972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4466844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920240" y="4261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920240" y="455371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maintenance, inventory, compliance &amp; scheduling.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629400" y="4169664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629400" y="4169664"/>
            <a:ext cx="82296" cy="86868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885432" y="4347972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4304" y="4466844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543800" y="4261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7543800" y="455371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certified, permitted technicians assigned to machinery.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1005840" y="5294376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1005840" y="5294376"/>
            <a:ext cx="82296" cy="86868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1261872" y="5472684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0744" y="5591556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920240" y="5385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Audit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1920240" y="56784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safety policies with traceable compliance logs.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6629400" y="5294376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6629400" y="5294376"/>
            <a:ext cx="82296" cy="86868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6885432" y="5472684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4304" y="5591556"/>
            <a:ext cx="274320" cy="27432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543800" y="5385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</a:t>
            </a:r>
            <a:endParaRPr lang="en-US" sz="1250" dirty="0"/>
          </a:p>
        </p:txBody>
      </p:sp>
      <p:sp>
        <p:nvSpPr>
          <p:cNvPr id="52" name="Text 42"/>
          <p:cNvSpPr/>
          <p:nvPr/>
        </p:nvSpPr>
        <p:spPr>
          <a:xfrm>
            <a:off x="7543800" y="56784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plants, shifts &amp; distributed field teams.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Manufacturing Deep-Dive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DEEP-DIVE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Healthcare, Mapped to All 8 Criteria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82296" cy="86868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61872" y="2098548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22174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920240" y="23042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history, instructions &amp; permissions retained across visits.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29400" y="1920240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29400" y="1920240"/>
            <a:ext cx="82296" cy="86868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85432" y="2098548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22174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Understanding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543800" y="23042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notes, medical images, lab results &amp; voice transcripts.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005840" y="3044952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05840" y="3044952"/>
            <a:ext cx="82296" cy="86868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261872" y="3223260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744" y="33421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20240" y="3136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920240" y="34290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symptom checkers surface accurate triage data.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629400" y="3044952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629400" y="3044952"/>
            <a:ext cx="82296" cy="86868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885432" y="3223260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33421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3800" y="3136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Behavior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543800" y="34290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plans follow clinical guidelines &amp; approved protocols.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1005840" y="4169664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005840" y="4169664"/>
            <a:ext cx="82296" cy="86868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261872" y="4347972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4466844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920240" y="4261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920240" y="455371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coordination of multi-provider care plans.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629400" y="4169664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629400" y="4169664"/>
            <a:ext cx="82296" cy="86868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885432" y="4347972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4304" y="4466844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543800" y="4261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7543800" y="455371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patient privacy, consent &amp; fairness controls.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1005840" y="5294376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1005840" y="5294376"/>
            <a:ext cx="82296" cy="86868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1261872" y="5472684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0744" y="5591556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920240" y="5385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Audit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1920240" y="56784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healthcare regulations &amp; governance rules.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6629400" y="5294376"/>
            <a:ext cx="5257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6629400" y="5294376"/>
            <a:ext cx="82296" cy="86868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0"/>
          <p:cNvSpPr/>
          <p:nvPr/>
        </p:nvSpPr>
        <p:spPr>
          <a:xfrm>
            <a:off x="6885432" y="5472684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4304" y="5591556"/>
            <a:ext cx="274320" cy="27432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543800" y="5385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</a:t>
            </a:r>
            <a:endParaRPr lang="en-US" sz="1250" dirty="0"/>
          </a:p>
        </p:txBody>
      </p:sp>
      <p:sp>
        <p:nvSpPr>
          <p:cNvPr id="52" name="Text 42"/>
          <p:cNvSpPr/>
          <p:nvPr/>
        </p:nvSpPr>
        <p:spPr>
          <a:xfrm>
            <a:off x="7543800" y="56784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providers, portals &amp; distributed care systems.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Healthcare Deep-Dive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BUSINESS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Platform Pays for Itself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is measured across cost, speed, risk, and revenue — not just technical elegance.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606040" cy="196596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2585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40-60%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24128" y="3291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&amp; decision resolution via instant context retrieval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85032" y="2057400"/>
            <a:ext cx="2606040" cy="196596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22585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25-35%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886200" y="3291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operational cost from reduced manual search &amp; rework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47104" y="2057400"/>
            <a:ext cx="2606040" cy="196596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2585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9984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70%+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6748272" y="3291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compliance violations through spec-driven, audited actions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409176" y="2057400"/>
            <a:ext cx="2606040" cy="196596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2" y="225856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92056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3-5x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9610344" y="3291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new-employee productivity via institutional-knowledge recall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22960" y="4343400"/>
            <a:ext cx="10515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822960" y="4343400"/>
            <a:ext cx="91440" cy="105156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1097280" y="434340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anchor: a Manufacturing plant avoiding just 2 unplanned downtime events/month (avg. $15K-50K/incident) recovers platform cost within one quarter — while Healthcare gains from fewer redundant tests and faster, auditable care decisions.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Business Impact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 Across the Enterprise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scales independently — no single bottleneck limits enterprise-wide growth.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3246120" cy="1417320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2331720"/>
            <a:ext cx="502920" cy="50292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24551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2768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Layer Scaling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51560" y="286207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memory, and orchestration scale independently on demand.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2148840"/>
            <a:ext cx="3246120" cy="1417320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80560" y="2331720"/>
            <a:ext cx="502920" cy="50292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004" y="24551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22768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&amp; Multi-Domain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80560" y="286207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serves Manufacturing, Healthcare, Banking &amp; more simultaneously.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726680" y="2148840"/>
            <a:ext cx="3246120" cy="1417320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909560" y="2331720"/>
            <a:ext cx="502920" cy="50292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004" y="245516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22768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Memory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909560" y="286207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Vector, graph &amp; relational stores scale horizontally as knowledge grows.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68680" y="3749040"/>
            <a:ext cx="3246120" cy="1417320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051560" y="3931920"/>
            <a:ext cx="502920" cy="50292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004" y="405536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38770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Fleet Growth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051560" y="446227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adds new specialized agents without re-architecting.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297680" y="3749040"/>
            <a:ext cx="3246120" cy="1417320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480560" y="3931920"/>
            <a:ext cx="502920" cy="50292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004" y="40553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0640" y="38770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Geo-Distributed Teams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480560" y="446227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stays consistent across regions, shifts &amp; languages.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726680" y="3749040"/>
            <a:ext cx="3246120" cy="1417320"/>
          </a:xfrm>
          <a:prstGeom prst="rect">
            <a:avLst/>
          </a:prstGeom>
          <a:solidFill>
            <a:srgbClr val="142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7909560" y="3931920"/>
            <a:ext cx="502920" cy="502920"/>
          </a:xfrm>
          <a:prstGeom prst="ellipse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004" y="405536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549640" y="38770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Volume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7909560" y="446227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Token-budgeted context keeps latency flat as data scales 10x-100x.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Scalability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Benefits from EnterpriseMind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291840" cy="9144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21408" y="2212848"/>
            <a:ext cx="694944" cy="69494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377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Frontline Workers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333756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&amp; clinicians get instant, role-appropriate answers instead of digging through manuals.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70832" y="1920240"/>
            <a:ext cx="32918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70832" y="1920240"/>
            <a:ext cx="3291840" cy="9144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69280" y="2212848"/>
            <a:ext cx="694944" cy="69494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07992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Managers &amp; Supervisors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0" y="333756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defensible decisions with full audit trail and explainability on demand.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918704" y="1920240"/>
            <a:ext cx="32918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918704" y="1920240"/>
            <a:ext cx="3291840" cy="9144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217152" y="2212848"/>
            <a:ext cx="694944" cy="69494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4" y="23774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55864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Risk Teams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119872" y="333756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automatic evidence of regulatory adherence — audit-ready at all times.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22960" y="4050792"/>
            <a:ext cx="32918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22960" y="4050792"/>
            <a:ext cx="3291840" cy="9144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2121408" y="4343400"/>
            <a:ext cx="694944" cy="69494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07992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5102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&amp; Platform Teams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24128" y="5468112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context layer instead of rebuilding retrieval for every new AI project.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370832" y="4050792"/>
            <a:ext cx="32918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370832" y="4050792"/>
            <a:ext cx="3291840" cy="9144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669280" y="4343400"/>
            <a:ext cx="694944" cy="69494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4507992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07992" y="5102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&amp; Patients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72000" y="5468112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consistent, accurate, and faster service outcomes across every touchpoint.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7918704" y="4050792"/>
            <a:ext cx="32918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7918704" y="4050792"/>
            <a:ext cx="3291840" cy="91440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9217152" y="4343400"/>
            <a:ext cx="694944" cy="694944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1744" y="4507992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055864" y="5102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&amp; Executives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8119872" y="5468112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visibility into AI decisions, risk posture, and business impact.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Stakeholder Impact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C2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731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Rich, Human-Centered User Experience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only as good as the trust it builds — clarity, transparency &amp; responsiveness are core to the UX.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2918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82296" cy="150876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0704" y="2185416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3225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55648" y="21122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Chat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0704" y="2807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Q&amp;A with inline source citations for instant trust.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70832" y="1965960"/>
            <a:ext cx="32918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70832" y="1965960"/>
            <a:ext cx="82296" cy="150876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08576" y="2185416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32257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1122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"Why?" Explainability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08576" y="2807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rationale view showing exactly which rules &amp; context drove a decision.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918704" y="1965960"/>
            <a:ext cx="32918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918704" y="1965960"/>
            <a:ext cx="82296" cy="150876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156448" y="2185416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2257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51392" y="21122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Governance Feed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56448" y="2807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audit console showing decisions, approvals &amp; rejections as they happen.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22960" y="3675888"/>
            <a:ext cx="32918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22960" y="3675888"/>
            <a:ext cx="82296" cy="150876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060704" y="3895344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403250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755648" y="3822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Dashboards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60704" y="451713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adapt automatically to technician, supervisor, clinician or admin roles.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370832" y="3675888"/>
            <a:ext cx="32918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4370832" y="3675888"/>
            <a:ext cx="82296" cy="150876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4608576" y="3895344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4032504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03520" y="3822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Field-Ready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608576" y="451713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for frontline workers on shop floors or bedside tablets.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918704" y="3675888"/>
            <a:ext cx="32918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7918704" y="3675888"/>
            <a:ext cx="82296" cy="1508760"/>
          </a:xfrm>
          <a:prstGeom prst="rect">
            <a:avLst/>
          </a:prstGeom>
          <a:solidFill>
            <a:srgbClr val="F4A9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8156448" y="3895344"/>
            <a:ext cx="548640" cy="54864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608" y="403250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851392" y="3822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Design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8156448" y="451713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High-contrast, multilingual, screen-reader-friendly for every user.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the Code  ·  Enterprise Context for Next-Gen Agentic AI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8076895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Experience Design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206240" cy="4206240"/>
          </a:xfrm>
          <a:prstGeom prst="ellipse">
            <a:avLst/>
          </a:prstGeom>
          <a:solidFill>
            <a:srgbClr val="0E8C7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-1645920"/>
            <a:ext cx="4023360" cy="4023360"/>
          </a:xfrm>
          <a:prstGeom prst="ellipse">
            <a:avLst/>
          </a:prstGeom>
          <a:solidFill>
            <a:srgbClr val="F4A93C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C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Context-Aware Enterprise Intelligence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Multimodal &amp; Agentic AI to securely understand, retain, govern, and apply enterprise knowledge — for responsible, compliant, business-aligned decisions.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4114800" cy="27432"/>
          </a:xfrm>
          <a:prstGeom prst="rect">
            <a:avLst/>
          </a:prstGeom>
          <a:solidFill>
            <a:srgbClr val="16C2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r>
              <a:rPr lang="en-US" sz="18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r>
              <a:rPr lang="en-US" sz="18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r>
              <a:rPr lang="en-US" sz="1800" dirty="0">
                <a:solidFill>
                  <a:srgbClr val="F4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48066fd-9395-4325-a4e7-856a23126b8d}" enabled="1" method="Standard" siteId="{404b1967-6507-45ab-8a6d-7374a3f478b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1304</Words>
  <Application>Microsoft Office PowerPoint</Application>
  <PresentationFormat>Widescreen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Cracking the Code — Enterprise Context for Agentic AI</dc:title>
  <dc:subject>PptxGenJS Presentation</dc:subject>
  <dc:creator>SWATI GANGURDE</dc:creator>
  <cp:lastModifiedBy>SWATI GANGURDE</cp:lastModifiedBy>
  <cp:revision>1</cp:revision>
  <dcterms:created xsi:type="dcterms:W3CDTF">2026-08-15T16:43:19Z</dcterms:created>
  <dcterms:modified xsi:type="dcterms:W3CDTF">2026-08-19T09:52:51Z</dcterms:modified>
</cp:coreProperties>
</file>